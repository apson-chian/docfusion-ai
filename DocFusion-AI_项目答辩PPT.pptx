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5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CFUSION_MASTER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image" Target="../media/image3.png"/><Relationship Id="rId21" Type="http://schemas.openxmlformats.org/officeDocument/2006/relationships/tags" Target="../tags/tag22.xml"/><Relationship Id="rId20" Type="http://schemas.openxmlformats.org/officeDocument/2006/relationships/tags" Target="../tags/tag21.xml"/><Relationship Id="rId2" Type="http://schemas.openxmlformats.org/officeDocument/2006/relationships/tags" Target="../tags/tag5.xml"/><Relationship Id="rId19" Type="http://schemas.openxmlformats.org/officeDocument/2006/relationships/image" Target="../media/image2.jpeg"/><Relationship Id="rId18" Type="http://schemas.openxmlformats.org/officeDocument/2006/relationships/image" Target="../media/image1.png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tags" Target="../tags/tag3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E274A"/>
          </a:solidFill>
          <a:ln w="12700">
            <a:solidFill>
              <a:srgbClr val="0E27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385B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C4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744200" y="411480"/>
            <a:ext cx="320040" cy="320040"/>
          </a:xfrm>
          <a:prstGeom prst="ellipse">
            <a:avLst/>
          </a:prstGeom>
          <a:solidFill>
            <a:srgbClr val="173C71">
              <a:alpha val="92000"/>
            </a:srgbClr>
          </a:solidFill>
          <a:ln w="12700">
            <a:solidFill>
              <a:srgbClr val="173C7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7392" y="365760"/>
            <a:ext cx="164592" cy="164592"/>
          </a:xfrm>
          <a:prstGeom prst="ellipse">
            <a:avLst/>
          </a:prstGeom>
          <a:solidFill>
            <a:srgbClr val="2FD4FF">
              <a:alpha val="90000"/>
            </a:srgbClr>
          </a:solidFill>
          <a:ln w="12700">
            <a:solidFill>
              <a:srgbClr val="2FD4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960120"/>
            <a:ext cx="3108960" cy="4160520"/>
          </a:xfrm>
          <a:prstGeom prst="roundRect">
            <a:avLst>
              <a:gd name="adj" fmla="val 2941"/>
            </a:avLst>
          </a:prstGeom>
          <a:solidFill>
            <a:srgbClr val="13345F">
              <a:alpha val="94000"/>
            </a:srgbClr>
          </a:solidFill>
          <a:ln w="12700">
            <a:solidFill>
              <a:srgbClr val="335D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9640" y="1325880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173C71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49640" y="269748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102B4D"/>
          </a:solidFill>
          <a:ln w="12700">
            <a:solidFill>
              <a:srgbClr val="4F7F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3822192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102B4D"/>
          </a:solidFill>
          <a:ln w="12700">
            <a:solidFill>
              <a:srgbClr val="4F7F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16184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TXT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0" y="16184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46920" y="2423160"/>
            <a:ext cx="0" cy="274320"/>
          </a:xfrm>
          <a:prstGeom prst="line">
            <a:avLst/>
          </a:prstGeom>
          <a:noFill/>
          <a:ln w="12700">
            <a:solidFill>
              <a:srgbClr val="2FD4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46920" y="3566160"/>
            <a:ext cx="0" cy="256032"/>
          </a:xfrm>
          <a:prstGeom prst="line">
            <a:avLst/>
          </a:prstGeom>
          <a:noFill/>
          <a:ln w="12700">
            <a:solidFill>
              <a:srgbClr val="2FD4FF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098280" y="299923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2F0FF"/>
                </a:solidFill>
              </a:rPr>
              <a:t>统一解析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98280" y="413308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2F0FF"/>
                </a:solidFill>
              </a:rPr>
              <a:t>自动成表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0288" y="1952243"/>
            <a:ext cx="51206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DocFusion-AI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89432" y="2747770"/>
            <a:ext cx="5870448" cy="91440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D7E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大语言模型驱动的文档理解与多源数据融合系统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4000500"/>
            <a:ext cx="6217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面向多源异构文档的自动解析、动态抽取、标准匹配与字段溯源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7240" y="5449825"/>
            <a:ext cx="62179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 err="1">
                <a:solidFill>
                  <a:srgbClr val="D0DD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团队名称</a:t>
            </a:r>
            <a:r>
              <a:rPr lang="zh-CN" altLang="en-US" dirty="0" err="1">
                <a:solidFill>
                  <a:srgbClr val="D0DD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dirty="0" err="1">
                <a:solidFill>
                  <a:srgbClr val="D0DD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DocFusion-AI</a:t>
            </a:r>
            <a:endParaRPr lang="en-US" dirty="0" err="1">
              <a:solidFill>
                <a:srgbClr val="D0DDF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D0DD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服务外包创新创业大赛</a:t>
            </a:r>
            <a:r>
              <a:rPr lang="en-US" dirty="0">
                <a:solidFill>
                  <a:srgbClr val="D0DD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｜2026</a:t>
            </a:r>
            <a:r>
              <a:rPr lang="zh-CN" altLang="en-US" dirty="0">
                <a:solidFill>
                  <a:srgbClr val="D0DD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</a:t>
            </a:r>
            <a:r>
              <a:rPr lang="en-US" altLang="zh-CN" dirty="0">
                <a:solidFill>
                  <a:srgbClr val="D0DD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r>
              <a:rPr lang="zh-CN" altLang="en-US" dirty="0">
                <a:solidFill>
                  <a:srgbClr val="D0DD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816596" y="5637276"/>
            <a:ext cx="3474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92F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让文档理解更智能，让信息填报更高效</a:t>
            </a:r>
            <a:endParaRPr lang="en-US" sz="1400" i="1" dirty="0"/>
          </a:p>
        </p:txBody>
      </p:sp>
      <p:sp>
        <p:nvSpPr>
          <p:cNvPr id="31" name="Text 11"/>
          <p:cNvSpPr/>
          <p:nvPr/>
        </p:nvSpPr>
        <p:spPr>
          <a:xfrm>
            <a:off x="9425940" y="1504188"/>
            <a:ext cx="807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DOCX</a:t>
            </a:r>
            <a:endParaRPr lang="en-US" sz="1800" dirty="0"/>
          </a:p>
        </p:txBody>
      </p:sp>
      <p:sp>
        <p:nvSpPr>
          <p:cNvPr id="32" name="Text 11"/>
          <p:cNvSpPr/>
          <p:nvPr/>
        </p:nvSpPr>
        <p:spPr>
          <a:xfrm>
            <a:off x="9910572" y="190652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800" b="1" dirty="0">
                <a:solidFill>
                  <a:srgbClr val="FFFFFF"/>
                </a:solidFill>
              </a:rPr>
              <a:t>md</a:t>
            </a:r>
            <a:endParaRPr lang="en-US" sz="1800" dirty="0"/>
          </a:p>
        </p:txBody>
      </p:sp>
      <p:sp>
        <p:nvSpPr>
          <p:cNvPr id="33" name="Text 11"/>
          <p:cNvSpPr/>
          <p:nvPr/>
        </p:nvSpPr>
        <p:spPr>
          <a:xfrm>
            <a:off x="9262872" y="202996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5" name="Text 11"/>
          <p:cNvSpPr/>
          <p:nvPr/>
        </p:nvSpPr>
        <p:spPr>
          <a:xfrm>
            <a:off x="8935212" y="2020824"/>
            <a:ext cx="792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XLSX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155448"/>
            <a:ext cx="2011680" cy="73152"/>
          </a:xfrm>
          <a:prstGeom prst="rect">
            <a:avLst/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73368"/>
            <a:ext cx="11064240" cy="0"/>
          </a:xfrm>
          <a:prstGeom prst="line">
            <a:avLst/>
          </a:prstGeom>
          <a:noFill/>
          <a:ln w="12700">
            <a:solidFill>
              <a:srgbClr val="BF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411480"/>
            <a:ext cx="256032" cy="256032"/>
          </a:xfrm>
          <a:prstGeom prst="ellipse">
            <a:avLst/>
          </a:prstGeom>
          <a:solidFill>
            <a:srgbClr val="DCEBFF">
              <a:alpha val="85000"/>
            </a:srgbClr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2256" y="347472"/>
            <a:ext cx="137160" cy="137160"/>
          </a:xfrm>
          <a:prstGeom prst="ellipse">
            <a:avLst/>
          </a:prstGeom>
          <a:solidFill>
            <a:srgbClr val="92F0FF">
              <a:alpha val="90000"/>
            </a:srgbClr>
          </a:solidFill>
          <a:ln w="12700">
            <a:solidFill>
              <a:srgbClr val="92F0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106" y="890651"/>
            <a:ext cx="6217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从问题出发，逐步展示系统方案、功能实现、创新成果与应用价值</a:t>
            </a:r>
            <a:endParaRPr lang="en-US" sz="16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00 / OVERVIEW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6419088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DocFusion-AI｜从实际痛点走向工程化闭环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280795" y="1480820"/>
            <a:ext cx="397764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81963" y="1608836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304F"/>
                </a:solidFill>
              </a:rPr>
              <a:t>01  实际问题与项目背景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280795" y="2102612"/>
            <a:ext cx="397764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81963" y="2230628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304F"/>
                </a:solidFill>
              </a:rPr>
              <a:t>02  调研过程与需求分析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1280795" y="2724404"/>
            <a:ext cx="397764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81963" y="2852420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304F"/>
                </a:solidFill>
              </a:rPr>
              <a:t>03  系统方案与总体架构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1280795" y="3346196"/>
            <a:ext cx="397764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81963" y="3474212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304F"/>
                </a:solidFill>
              </a:rPr>
              <a:t>04  Web开发与功能实现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1280795" y="4589780"/>
            <a:ext cx="397764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81963" y="4717796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304F"/>
                </a:solidFill>
              </a:rPr>
              <a:t>06  结果展示与应用价值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1280795" y="5211572"/>
            <a:ext cx="397764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81963" y="5339588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304F"/>
                </a:solidFill>
              </a:rPr>
              <a:t>07  总结与展望</a:t>
            </a:r>
            <a:endParaRPr lang="en-US" sz="1450" dirty="0"/>
          </a:p>
        </p:txBody>
      </p:sp>
      <p:grpSp>
        <p:nvGrpSpPr>
          <p:cNvPr id="13" name="组合 12"/>
          <p:cNvGrpSpPr/>
          <p:nvPr/>
        </p:nvGrpSpPr>
        <p:grpSpPr>
          <a:xfrm>
            <a:off x="8285480" y="666115"/>
            <a:ext cx="1298575" cy="485140"/>
            <a:chOff x="8958" y="2332"/>
            <a:chExt cx="2035" cy="778"/>
          </a:xfrm>
        </p:grpSpPr>
        <p:sp>
          <p:nvSpPr>
            <p:cNvPr id="40" name="Shape 38"/>
            <p:cNvSpPr/>
            <p:nvPr/>
          </p:nvSpPr>
          <p:spPr>
            <a:xfrm>
              <a:off x="8963" y="2332"/>
              <a:ext cx="2030" cy="778"/>
            </a:xfrm>
            <a:prstGeom prst="roundRect">
              <a:avLst>
                <a:gd name="adj" fmla="val 17857"/>
              </a:avLst>
            </a:prstGeom>
            <a:solidFill>
              <a:srgbClr val="EDF5FF"/>
            </a:solidFill>
            <a:ln w="12700">
              <a:solidFill>
                <a:srgbClr val="EDF5FF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8958" y="2432"/>
              <a:ext cx="2035" cy="5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F63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项目结构</a:t>
              </a:r>
              <a:endParaRPr lang="en-US" sz="950" dirty="0"/>
            </a:p>
          </p:txBody>
        </p:sp>
      </p:grpSp>
      <p:sp>
        <p:nvSpPr>
          <p:cNvPr id="42" name="Shape 40"/>
          <p:cNvSpPr/>
          <p:nvPr/>
        </p:nvSpPr>
        <p:spPr>
          <a:xfrm>
            <a:off x="6546850" y="1222375"/>
            <a:ext cx="4782820" cy="4790440"/>
          </a:xfrm>
          <a:prstGeom prst="roundRect">
            <a:avLst>
              <a:gd name="adj" fmla="val 1616"/>
            </a:avLst>
          </a:prstGeom>
          <a:solidFill>
            <a:srgbClr val="FBFDFF"/>
          </a:solidFill>
          <a:ln w="12700">
            <a:solidFill>
              <a:srgbClr val="BFD4F2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3" name="Text 41"/>
          <p:cNvSpPr/>
          <p:nvPr/>
        </p:nvSpPr>
        <p:spPr>
          <a:xfrm>
            <a:off x="5051425" y="1846707"/>
            <a:ext cx="6126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154285" y="3338830"/>
            <a:ext cx="1023620" cy="272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913245" y="1325245"/>
            <a:ext cx="4287520" cy="4592955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DocFusion-AI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 start.py                 启动入口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 README.md                项目说明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 backend/                 后端主程序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├─ app/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│  ├─ main.py            FastAPI 应用入口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│  ├─ api/               接口层：上传、任务、解析、抽取、匹配、溯源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│  ├─ services/          核心业务：文档解析、抽取引擎、匹配引擎、LLM 调用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│  ├─ db/                数据库层：模型、连接、初始化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│  └─ core/              基础设施：路径、日志、版本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├─ storage/              运行数据：uploads / logs / reports / SQLite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└─ requirements.txt      后端依赖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 frontend/                前端页面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├─ index.html            页面入口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├─ guide.html            指导页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└─ src/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├─ pages             页面逻辑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├─ components        复用组件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├─ api               前端接口封装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├─ utils / types     工具与数据结构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  └─ styles            样式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 docs/                    项目文档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 demo/                    演示截图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 test_data/               测试数据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 legacy/                  历史版本与实验代码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1304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└─ tmp-playwright/          临时自动化测试工程</a:t>
            </a:r>
            <a:endParaRPr lang="en-US" sz="1000" dirty="0">
              <a:solidFill>
                <a:srgbClr val="11304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50" name="Shape 22"/>
          <p:cNvSpPr/>
          <p:nvPr/>
        </p:nvSpPr>
        <p:spPr>
          <a:xfrm>
            <a:off x="1280795" y="3954272"/>
            <a:ext cx="397764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52" name="Text 25"/>
          <p:cNvSpPr/>
          <p:nvPr/>
        </p:nvSpPr>
        <p:spPr>
          <a:xfrm>
            <a:off x="1481963" y="4109720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304F"/>
                </a:solidFill>
              </a:rPr>
              <a:t>05  </a:t>
            </a:r>
            <a:r>
              <a:rPr lang="en-US" sz="1450">
                <a:solidFill>
                  <a:srgbClr val="11304F"/>
                </a:solidFill>
              </a:rPr>
              <a:t>创新成果与核心优势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155448"/>
            <a:ext cx="2011680" cy="73152"/>
          </a:xfrm>
          <a:prstGeom prst="rect">
            <a:avLst/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73368"/>
            <a:ext cx="11064240" cy="0"/>
          </a:xfrm>
          <a:prstGeom prst="line">
            <a:avLst/>
          </a:prstGeom>
          <a:noFill/>
          <a:ln w="12700">
            <a:solidFill>
              <a:srgbClr val="BF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411480"/>
            <a:ext cx="256032" cy="256032"/>
          </a:xfrm>
          <a:prstGeom prst="ellipse">
            <a:avLst/>
          </a:prstGeom>
          <a:solidFill>
            <a:srgbClr val="DCEBFF">
              <a:alpha val="85000"/>
            </a:srgbClr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2256" y="347472"/>
            <a:ext cx="137160" cy="137160"/>
          </a:xfrm>
          <a:prstGeom prst="ellipse">
            <a:avLst/>
          </a:prstGeom>
          <a:solidFill>
            <a:srgbClr val="92F0FF">
              <a:alpha val="90000"/>
            </a:srgbClr>
          </a:solidFill>
          <a:ln w="12700">
            <a:solidFill>
              <a:srgbClr val="92F0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106" y="972566"/>
            <a:ext cx="6217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多源异构文档大量存在，但真正可直接使用的结构化数据十分稀缺</a:t>
            </a:r>
            <a:endParaRPr lang="en-US" sz="16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/ 背景与问题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6419088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信息很多，真正可用的数据却难以快速提取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52475" y="1609725"/>
            <a:ext cx="5257800" cy="3491865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34"/>
          <p:cNvSpPr/>
          <p:nvPr>
            <p:custDataLst>
              <p:tags r:id="rId1"/>
            </p:custDataLst>
          </p:nvPr>
        </p:nvSpPr>
        <p:spPr>
          <a:xfrm>
            <a:off x="344170" y="3802380"/>
            <a:ext cx="6193790" cy="69469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46" name="Shape 34"/>
          <p:cNvSpPr/>
          <p:nvPr>
            <p:custDataLst>
              <p:tags r:id="rId2"/>
            </p:custDataLst>
          </p:nvPr>
        </p:nvSpPr>
        <p:spPr>
          <a:xfrm>
            <a:off x="344170" y="2973070"/>
            <a:ext cx="6193790" cy="69469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45" name="Shape 34"/>
          <p:cNvSpPr/>
          <p:nvPr>
            <p:custDataLst>
              <p:tags r:id="rId3"/>
            </p:custDataLst>
          </p:nvPr>
        </p:nvSpPr>
        <p:spPr>
          <a:xfrm>
            <a:off x="344805" y="2291715"/>
            <a:ext cx="6193790" cy="52451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5228" y="177419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 err="1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现实场景中的普遍困境</a:t>
            </a:r>
            <a:endParaRPr lang="en-US" sz="1900" b="1" dirty="0">
              <a:solidFill>
                <a:srgbClr val="11304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35228" y="2121662"/>
            <a:ext cx="4892040" cy="3822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45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457200" algn="ctr">
              <a:buNone/>
            </a:pPr>
            <a:r>
              <a:rPr lang="en-US" sz="1450" dirty="0" err="1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申报书、通知、统计公报、合同、周报、Excel表格等材料，往往分散在不同文件和不同结构中</a:t>
            </a:r>
            <a:r>
              <a:rPr lang="en-US" sz="145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450" dirty="0"/>
          </a:p>
          <a:p>
            <a:pPr marL="0" indent="457200" algn="just">
              <a:buNone/>
            </a:pPr>
            <a:endParaRPr lang="en-US" sz="1450" dirty="0"/>
          </a:p>
          <a:p>
            <a:pPr marL="0" indent="457200" algn="ctr">
              <a:buNone/>
            </a:pPr>
            <a:r>
              <a:rPr lang="en-US" sz="145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面对跨格式、跨位置、跨表格的字段，人工需要不断翻阅、复制、核对与再整理，导致信息抽取周期长、重复劳动重、可复用性差。</a:t>
            </a:r>
            <a:endParaRPr lang="en-US" sz="1450" dirty="0"/>
          </a:p>
          <a:p>
            <a:pPr marL="0" indent="457200" algn="just">
              <a:buNone/>
            </a:pPr>
            <a:endParaRPr lang="en-US" sz="1450" dirty="0"/>
          </a:p>
          <a:p>
            <a:pPr marL="0" indent="457200" algn="just">
              <a:buNone/>
            </a:pPr>
            <a:r>
              <a:rPr lang="en-US" sz="145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核心矛盾在于：非结构化文档很多，但能直接进入业务流程的结构化结果很少。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355080" y="1417320"/>
            <a:ext cx="5212080" cy="401701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58191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1929384"/>
            <a:ext cx="4846320" cy="3822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12407" y="178308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F1F6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407" y="1810512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TXT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942322" y="179197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EAF7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30257" y="1800987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12407" y="232283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E8ED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407" y="2350262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DOCX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930257" y="233172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DDF7E8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30257" y="2359152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XLSX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20840" y="2816352"/>
            <a:ext cx="1325880" cy="960120"/>
          </a:xfrm>
          <a:prstGeom prst="roundRect">
            <a:avLst>
              <a:gd name="adj" fmla="val 5714"/>
            </a:avLst>
          </a:prstGeom>
          <a:solidFill>
            <a:srgbClr val="EDF5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2816352"/>
            <a:ext cx="1325880" cy="960120"/>
          </a:xfrm>
          <a:prstGeom prst="roundRect">
            <a:avLst>
              <a:gd name="adj" fmla="val 5714"/>
            </a:avLst>
          </a:prstGeom>
          <a:solidFill>
            <a:srgbClr val="EDF5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29800" y="2816352"/>
            <a:ext cx="1325880" cy="960120"/>
          </a:xfrm>
          <a:prstGeom prst="roundRect">
            <a:avLst>
              <a:gd name="adj" fmla="val 5714"/>
            </a:avLst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65008" y="3291840"/>
            <a:ext cx="210312" cy="0"/>
          </a:xfrm>
          <a:prstGeom prst="line">
            <a:avLst/>
          </a:prstGeom>
          <a:noFill/>
          <a:ln w="12700">
            <a:solidFill>
              <a:srgbClr val="8AB0E6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19488" y="3291840"/>
            <a:ext cx="210312" cy="0"/>
          </a:xfrm>
          <a:prstGeom prst="line">
            <a:avLst/>
          </a:prstGeom>
          <a:noFill/>
          <a:ln w="12700">
            <a:solidFill>
              <a:srgbClr val="8AB0E6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6812280" y="3154680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304F"/>
                </a:solidFill>
              </a:rPr>
              <a:t>多格式文档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85048" y="3154680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304F"/>
                </a:solidFill>
              </a:rPr>
              <a:t>字段分散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930384" y="3154680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结构化结果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720840" y="4294505"/>
            <a:ext cx="1417320" cy="52451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3959225"/>
            <a:ext cx="1197610" cy="201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问题关键词</a:t>
            </a:r>
            <a:endParaRPr lang="en-US" sz="14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940423" y="4497070"/>
            <a:ext cx="11978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格式多样</a:t>
            </a:r>
            <a:endParaRPr lang="en-US" b="1" dirty="0">
              <a:solidFill>
                <a:srgbClr val="1F63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275320" y="4294505"/>
            <a:ext cx="1417320" cy="52451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85175" y="3959225"/>
            <a:ext cx="119761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处理方式</a:t>
            </a:r>
            <a:endParaRPr lang="en-US" sz="14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494903" y="4497070"/>
            <a:ext cx="11978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人工串联</a:t>
            </a:r>
            <a:endParaRPr lang="en-US" b="1" dirty="0">
              <a:solidFill>
                <a:srgbClr val="1F63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829800" y="4294505"/>
            <a:ext cx="1417320" cy="52451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29800" y="3977005"/>
            <a:ext cx="1197610" cy="1835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目标方向</a:t>
            </a:r>
            <a:endParaRPr lang="en-US" sz="14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0049383" y="4497070"/>
            <a:ext cx="11978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自动转化</a:t>
            </a:r>
            <a:endParaRPr lang="en-US" b="1" dirty="0">
              <a:solidFill>
                <a:srgbClr val="1F63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46720" y="1192530"/>
            <a:ext cx="1779905" cy="417195"/>
          </a:xfrm>
          <a:prstGeom prst="roundRect">
            <a:avLst>
              <a:gd name="adj" fmla="val 17857"/>
            </a:avLst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1282065"/>
            <a:ext cx="1779905" cy="238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多源异构文档</a:t>
            </a:r>
            <a:endParaRPr lang="en-US" sz="1400" b="1" dirty="0">
              <a:solidFill>
                <a:srgbClr val="1F63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155448"/>
            <a:ext cx="2011680" cy="73152"/>
          </a:xfrm>
          <a:prstGeom prst="rect">
            <a:avLst/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098413"/>
            <a:ext cx="11064240" cy="0"/>
          </a:xfrm>
          <a:prstGeom prst="line">
            <a:avLst/>
          </a:prstGeom>
          <a:noFill/>
          <a:ln w="12700">
            <a:solidFill>
              <a:srgbClr val="BF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411480"/>
            <a:ext cx="256032" cy="256032"/>
          </a:xfrm>
          <a:prstGeom prst="ellipse">
            <a:avLst/>
          </a:prstGeom>
          <a:solidFill>
            <a:srgbClr val="DCEBFF">
              <a:alpha val="85000"/>
            </a:srgbClr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2256" y="347472"/>
            <a:ext cx="137160" cy="137160"/>
          </a:xfrm>
          <a:prstGeom prst="ellipse">
            <a:avLst/>
          </a:prstGeom>
          <a:solidFill>
            <a:srgbClr val="92F0FF">
              <a:alpha val="90000"/>
            </a:srgbClr>
          </a:solidFill>
          <a:ln w="12700">
            <a:solidFill>
              <a:srgbClr val="92F0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我们面对的实际问题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106" y="996696"/>
            <a:ext cx="6217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真实场景中最常见的三类障碍：格式异构、填报繁琐、结果难核验</a:t>
            </a:r>
            <a:endParaRPr lang="en-US" sz="16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/ 背景与问题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6346063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问题不是单一抽取失败，而是从“找信息”到“信结果”的全链条低效</a:t>
            </a:r>
            <a:endParaRPr lang="en-US" sz="1400" i="1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>
            <p:custDataLst>
              <p:tags r:id="rId1"/>
            </p:custDataLst>
          </p:nvPr>
        </p:nvSpPr>
        <p:spPr>
          <a:xfrm>
            <a:off x="713105" y="1627505"/>
            <a:ext cx="3611880" cy="4465955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>
            <p:custDataLst>
              <p:tags r:id="rId2"/>
            </p:custDataLst>
          </p:nvPr>
        </p:nvSpPr>
        <p:spPr>
          <a:xfrm>
            <a:off x="859536" y="1773936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3"/>
            </p:custDataLst>
          </p:nvPr>
        </p:nvSpPr>
        <p:spPr>
          <a:xfrm>
            <a:off x="859536" y="1801368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</a:t>
            </a:r>
            <a:endParaRPr lang="en-US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4"/>
            </p:custDataLst>
          </p:nvPr>
        </p:nvSpPr>
        <p:spPr>
          <a:xfrm>
            <a:off x="896112" y="230886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问题一｜文档格式多样</a:t>
            </a:r>
            <a:endParaRPr lang="en-US" sz="1800" dirty="0"/>
          </a:p>
        </p:txBody>
      </p:sp>
      <p:sp>
        <p:nvSpPr>
          <p:cNvPr id="16" name="Text 14"/>
          <p:cNvSpPr/>
          <p:nvPr>
            <p:custDataLst>
              <p:tags r:id="rId5"/>
            </p:custDataLst>
          </p:nvPr>
        </p:nvSpPr>
        <p:spPr>
          <a:xfrm>
            <a:off x="813435" y="3594100"/>
            <a:ext cx="3246120" cy="4445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20000"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这使得</a:t>
            </a: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统一抽取逻辑难以直接建立。</a:t>
            </a:r>
            <a:endParaRPr lang="en-US" sz="1600" dirty="0"/>
          </a:p>
        </p:txBody>
      </p:sp>
      <p:grpSp>
        <p:nvGrpSpPr>
          <p:cNvPr id="29" name="组合 28"/>
          <p:cNvGrpSpPr/>
          <p:nvPr/>
        </p:nvGrpSpPr>
        <p:grpSpPr>
          <a:xfrm>
            <a:off x="4146550" y="1444625"/>
            <a:ext cx="3693795" cy="4474845"/>
            <a:chOff x="6625" y="2591"/>
            <a:chExt cx="5817" cy="6624"/>
          </a:xfrm>
        </p:grpSpPr>
        <p:sp>
          <p:nvSpPr>
            <p:cNvPr id="17" name="Shape 15"/>
            <p:cNvSpPr/>
            <p:nvPr>
              <p:custDataLst>
                <p:tags r:id="rId6"/>
              </p:custDataLst>
            </p:nvPr>
          </p:nvSpPr>
          <p:spPr>
            <a:xfrm>
              <a:off x="6625" y="2591"/>
              <a:ext cx="5817" cy="6624"/>
            </a:xfrm>
            <a:prstGeom prst="roundRect">
              <a:avLst>
                <a:gd name="adj" fmla="val 2025"/>
              </a:avLst>
            </a:prstGeom>
            <a:solidFill>
              <a:srgbClr val="FFFFFF"/>
            </a:solidFill>
            <a:ln w="12700">
              <a:solidFill>
                <a:srgbClr val="BFD4F2"/>
              </a:solidFill>
              <a:prstDash val="solid"/>
            </a:ln>
            <a:effectLst>
              <a:outerShdw blurRad="19050" dist="1016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8" name="Shape 16"/>
            <p:cNvSpPr/>
            <p:nvPr>
              <p:custDataLst>
                <p:tags r:id="rId7"/>
              </p:custDataLst>
            </p:nvPr>
          </p:nvSpPr>
          <p:spPr>
            <a:xfrm>
              <a:off x="6984" y="2794"/>
              <a:ext cx="1584" cy="403"/>
            </a:xfrm>
            <a:prstGeom prst="roundRect">
              <a:avLst>
                <a:gd name="adj" fmla="val 17857"/>
              </a:avLst>
            </a:prstGeom>
            <a:solidFill>
              <a:srgbClr val="3E7BFF"/>
            </a:solidFill>
            <a:ln w="12700">
              <a:solidFill>
                <a:srgbClr val="3E7BFF"/>
              </a:solidFill>
              <a:prstDash val="solid"/>
            </a:ln>
          </p:spPr>
        </p:sp>
        <p:sp>
          <p:nvSpPr>
            <p:cNvPr id="19" name="Text 17"/>
            <p:cNvSpPr/>
            <p:nvPr>
              <p:custDataLst>
                <p:tags r:id="rId8"/>
              </p:custDataLst>
            </p:nvPr>
          </p:nvSpPr>
          <p:spPr>
            <a:xfrm>
              <a:off x="6984" y="2837"/>
              <a:ext cx="1584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P2</a:t>
              </a:r>
              <a:endPara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20" name="Text 18"/>
            <p:cNvSpPr/>
            <p:nvPr>
              <p:custDataLst>
                <p:tags r:id="rId9"/>
              </p:custDataLst>
            </p:nvPr>
          </p:nvSpPr>
          <p:spPr>
            <a:xfrm>
              <a:off x="7128" y="3635"/>
              <a:ext cx="5112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130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问题二｜人工填写低效</a:t>
              </a:r>
              <a:endParaRPr lang="en-US" sz="1800" dirty="0"/>
            </a:p>
          </p:txBody>
        </p:sp>
        <p:sp>
          <p:nvSpPr>
            <p:cNvPr id="21" name="Text 19"/>
            <p:cNvSpPr txBox="1"/>
            <p:nvPr>
              <p:custDataLst>
                <p:tags r:id="rId10"/>
              </p:custDataLst>
            </p:nvPr>
          </p:nvSpPr>
          <p:spPr>
            <a:xfrm>
              <a:off x="6962" y="4401"/>
              <a:ext cx="5112" cy="90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sz="1600" dirty="0">
                  <a:solidFill>
                    <a:srgbClr val="5D70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用户需要逐份打开材料、逐字段查找，再回填到目标表格中。</a:t>
              </a:r>
              <a:endPara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endPara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endPara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endParaRPr>
            </a:p>
          </p:txBody>
        </p:sp>
      </p:grpSp>
      <p:sp>
        <p:nvSpPr>
          <p:cNvPr id="22" name="Shape 20"/>
          <p:cNvSpPr/>
          <p:nvPr>
            <p:custDataLst>
              <p:tags r:id="rId11"/>
            </p:custDataLst>
          </p:nvPr>
        </p:nvSpPr>
        <p:spPr>
          <a:xfrm>
            <a:off x="7642225" y="1241425"/>
            <a:ext cx="3684905" cy="4465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grpSp>
        <p:nvGrpSpPr>
          <p:cNvPr id="30" name="组合 29"/>
          <p:cNvGrpSpPr/>
          <p:nvPr/>
        </p:nvGrpSpPr>
        <p:grpSpPr>
          <a:xfrm>
            <a:off x="7844790" y="1402080"/>
            <a:ext cx="1005840" cy="255270"/>
            <a:chOff x="12614" y="2794"/>
            <a:chExt cx="1584" cy="402"/>
          </a:xfrm>
        </p:grpSpPr>
        <p:sp>
          <p:nvSpPr>
            <p:cNvPr id="23" name="Shape 21"/>
            <p:cNvSpPr/>
            <p:nvPr>
              <p:custDataLst>
                <p:tags r:id="rId12"/>
              </p:custDataLst>
            </p:nvPr>
          </p:nvSpPr>
          <p:spPr>
            <a:xfrm>
              <a:off x="12614" y="2794"/>
              <a:ext cx="1584" cy="403"/>
            </a:xfrm>
            <a:prstGeom prst="roundRect">
              <a:avLst>
                <a:gd name="adj" fmla="val 17857"/>
              </a:avLst>
            </a:prstGeom>
            <a:solidFill>
              <a:srgbClr val="5A90FF"/>
            </a:solidFill>
            <a:ln w="12700">
              <a:solidFill>
                <a:srgbClr val="5A90FF"/>
              </a:solidFill>
              <a:prstDash val="solid"/>
            </a:ln>
          </p:spPr>
        </p:sp>
        <p:sp>
          <p:nvSpPr>
            <p:cNvPr id="24" name="Text 22"/>
            <p:cNvSpPr/>
            <p:nvPr>
              <p:custDataLst>
                <p:tags r:id="rId13"/>
              </p:custDataLst>
            </p:nvPr>
          </p:nvSpPr>
          <p:spPr>
            <a:xfrm>
              <a:off x="12614" y="2837"/>
              <a:ext cx="1584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P3</a:t>
              </a:r>
              <a:endPara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</p:grpSp>
      <p:sp>
        <p:nvSpPr>
          <p:cNvPr id="25" name="Text 23"/>
          <p:cNvSpPr/>
          <p:nvPr>
            <p:custDataLst>
              <p:tags r:id="rId14"/>
            </p:custDataLst>
          </p:nvPr>
        </p:nvSpPr>
        <p:spPr>
          <a:xfrm>
            <a:off x="7780528" y="1853565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问题三｜结果缺乏可信依据</a:t>
            </a:r>
            <a:endParaRPr lang="en-US" sz="1800" dirty="0"/>
          </a:p>
        </p:txBody>
      </p:sp>
      <p:sp>
        <p:nvSpPr>
          <p:cNvPr id="26" name="Text 24"/>
          <p:cNvSpPr txBox="1"/>
          <p:nvPr>
            <p:custDataLst>
              <p:tags r:id="rId15"/>
            </p:custDataLst>
          </p:nvPr>
        </p:nvSpPr>
        <p:spPr>
          <a:xfrm>
            <a:off x="7821930" y="2328545"/>
            <a:ext cx="3246120" cy="5162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即使已经抽取出结果，也常常难以快速回到原文确认来源。</a:t>
            </a:r>
            <a:endParaRPr lang="en-US" sz="16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lvl="0" algn="ctr">
              <a:buClrTx/>
              <a:buSzTx/>
              <a:buFontTx/>
            </a:pPr>
            <a:endParaRPr lang="en-US" sz="16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lvl="0" algn="ctr">
              <a:buClrTx/>
              <a:buSzTx/>
              <a:buFontTx/>
            </a:pPr>
            <a:endParaRPr lang="en-US" sz="16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96290" y="2762885"/>
            <a:ext cx="3474720" cy="586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TXT、Markdown、Word、Excel</a:t>
            </a:r>
            <a:r>
              <a:rPr lang="zh-CN" alt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格式多样</a:t>
            </a: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</a:t>
            </a:r>
            <a:endParaRPr lang="en-US" sz="1600" dirty="0"/>
          </a:p>
          <a:p>
            <a:pPr algn="ctr"/>
            <a:endParaRPr lang="en-US" altLang="en-US" sz="1600" dirty="0"/>
          </a:p>
        </p:txBody>
      </p:sp>
      <p:sp>
        <p:nvSpPr>
          <p:cNvPr id="146" name="任意多边形 24"/>
          <p:cNvSpPr/>
          <p:nvPr>
            <p:custDataLst>
              <p:tags r:id="rId16"/>
            </p:custDataLst>
          </p:nvPr>
        </p:nvSpPr>
        <p:spPr bwMode="auto">
          <a:xfrm rot="10800000">
            <a:off x="1864995" y="3316605"/>
            <a:ext cx="1331595" cy="330835"/>
          </a:xfrm>
          <a:custGeom>
            <a:avLst/>
            <a:gdLst>
              <a:gd name="connsiteX0" fmla="*/ 2836201 w 2836201"/>
              <a:gd name="connsiteY0" fmla="*/ 3789428 h 3789428"/>
              <a:gd name="connsiteX1" fmla="*/ 2711787 w 2836201"/>
              <a:gd name="connsiteY1" fmla="*/ 3682142 h 3789428"/>
              <a:gd name="connsiteX2" fmla="*/ 1888961 w 2836201"/>
              <a:gd name="connsiteY2" fmla="*/ 1207373 h 3789428"/>
              <a:gd name="connsiteX3" fmla="*/ 1897078 w 2836201"/>
              <a:gd name="connsiteY3" fmla="*/ 919610 h 3789428"/>
              <a:gd name="connsiteX4" fmla="*/ 1902386 w 2836201"/>
              <a:gd name="connsiteY4" fmla="*/ 857358 h 3789428"/>
              <a:gd name="connsiteX5" fmla="*/ 2275459 w 2836201"/>
              <a:gd name="connsiteY5" fmla="*/ 857358 h 3789428"/>
              <a:gd name="connsiteX6" fmla="*/ 1418101 w 2836201"/>
              <a:gd name="connsiteY6" fmla="*/ 0 h 3789428"/>
              <a:gd name="connsiteX7" fmla="*/ 560743 w 2836201"/>
              <a:gd name="connsiteY7" fmla="*/ 857358 h 3789428"/>
              <a:gd name="connsiteX8" fmla="*/ 933815 w 2836201"/>
              <a:gd name="connsiteY8" fmla="*/ 857358 h 3789428"/>
              <a:gd name="connsiteX9" fmla="*/ 939123 w 2836201"/>
              <a:gd name="connsiteY9" fmla="*/ 919610 h 3789428"/>
              <a:gd name="connsiteX10" fmla="*/ 947240 w 2836201"/>
              <a:gd name="connsiteY10" fmla="*/ 1207373 h 3789428"/>
              <a:gd name="connsiteX11" fmla="*/ 124414 w 2836201"/>
              <a:gd name="connsiteY11" fmla="*/ 3682142 h 3789428"/>
              <a:gd name="connsiteX12" fmla="*/ 0 w 2836201"/>
              <a:gd name="connsiteY12" fmla="*/ 3789428 h 3789428"/>
              <a:gd name="connsiteX13" fmla="*/ 56160 w 2836201"/>
              <a:gd name="connsiteY13" fmla="*/ 3789428 h 3789428"/>
              <a:gd name="connsiteX14" fmla="*/ 2780041 w 2836201"/>
              <a:gd name="connsiteY14" fmla="*/ 3789428 h 3789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36201" h="3789428">
                <a:moveTo>
                  <a:pt x="2836201" y="3789428"/>
                </a:moveTo>
                <a:lnTo>
                  <a:pt x="2711787" y="3682142"/>
                </a:lnTo>
                <a:cubicBezTo>
                  <a:pt x="2221675" y="3205543"/>
                  <a:pt x="1888961" y="2276012"/>
                  <a:pt x="1888961" y="1207373"/>
                </a:cubicBezTo>
                <a:cubicBezTo>
                  <a:pt x="1888961" y="1110224"/>
                  <a:pt x="1891711" y="1014224"/>
                  <a:pt x="1897078" y="919610"/>
                </a:cubicBezTo>
                <a:lnTo>
                  <a:pt x="1902386" y="857358"/>
                </a:lnTo>
                <a:lnTo>
                  <a:pt x="2275459" y="857358"/>
                </a:lnTo>
                <a:lnTo>
                  <a:pt x="1418101" y="0"/>
                </a:lnTo>
                <a:lnTo>
                  <a:pt x="560743" y="857358"/>
                </a:lnTo>
                <a:lnTo>
                  <a:pt x="933815" y="857358"/>
                </a:lnTo>
                <a:lnTo>
                  <a:pt x="939123" y="919610"/>
                </a:lnTo>
                <a:cubicBezTo>
                  <a:pt x="944490" y="1014224"/>
                  <a:pt x="947240" y="1110224"/>
                  <a:pt x="947240" y="1207373"/>
                </a:cubicBezTo>
                <a:cubicBezTo>
                  <a:pt x="947240" y="2276012"/>
                  <a:pt x="614527" y="3205543"/>
                  <a:pt x="124414" y="3682142"/>
                </a:cubicBezTo>
                <a:lnTo>
                  <a:pt x="0" y="3789428"/>
                </a:lnTo>
                <a:lnTo>
                  <a:pt x="56160" y="3789428"/>
                </a:lnTo>
                <a:lnTo>
                  <a:pt x="2780041" y="3789428"/>
                </a:lnTo>
                <a:close/>
              </a:path>
            </a:pathLst>
          </a:custGeom>
          <a:gradFill flip="none" rotWithShape="1">
            <a:gsLst>
              <a:gs pos="73000">
                <a:schemeClr val="accent1">
                  <a:alpha val="0"/>
                </a:schemeClr>
              </a:gs>
              <a:gs pos="0">
                <a:schemeClr val="accent2">
                  <a:alpha val="9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marL="0" marR="0" lvl="0" indent="0" algn="ctr" defTabSz="11518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28" name="任意多边形 24"/>
          <p:cNvSpPr/>
          <p:nvPr>
            <p:custDataLst>
              <p:tags r:id="rId17"/>
            </p:custDataLst>
          </p:nvPr>
        </p:nvSpPr>
        <p:spPr bwMode="auto">
          <a:xfrm rot="10800000">
            <a:off x="1864995" y="4082415"/>
            <a:ext cx="1331595" cy="330835"/>
          </a:xfrm>
          <a:custGeom>
            <a:avLst/>
            <a:gdLst>
              <a:gd name="connsiteX0" fmla="*/ 2836201 w 2836201"/>
              <a:gd name="connsiteY0" fmla="*/ 3789428 h 3789428"/>
              <a:gd name="connsiteX1" fmla="*/ 2711787 w 2836201"/>
              <a:gd name="connsiteY1" fmla="*/ 3682142 h 3789428"/>
              <a:gd name="connsiteX2" fmla="*/ 1888961 w 2836201"/>
              <a:gd name="connsiteY2" fmla="*/ 1207373 h 3789428"/>
              <a:gd name="connsiteX3" fmla="*/ 1897078 w 2836201"/>
              <a:gd name="connsiteY3" fmla="*/ 919610 h 3789428"/>
              <a:gd name="connsiteX4" fmla="*/ 1902386 w 2836201"/>
              <a:gd name="connsiteY4" fmla="*/ 857358 h 3789428"/>
              <a:gd name="connsiteX5" fmla="*/ 2275459 w 2836201"/>
              <a:gd name="connsiteY5" fmla="*/ 857358 h 3789428"/>
              <a:gd name="connsiteX6" fmla="*/ 1418101 w 2836201"/>
              <a:gd name="connsiteY6" fmla="*/ 0 h 3789428"/>
              <a:gd name="connsiteX7" fmla="*/ 560743 w 2836201"/>
              <a:gd name="connsiteY7" fmla="*/ 857358 h 3789428"/>
              <a:gd name="connsiteX8" fmla="*/ 933815 w 2836201"/>
              <a:gd name="connsiteY8" fmla="*/ 857358 h 3789428"/>
              <a:gd name="connsiteX9" fmla="*/ 939123 w 2836201"/>
              <a:gd name="connsiteY9" fmla="*/ 919610 h 3789428"/>
              <a:gd name="connsiteX10" fmla="*/ 947240 w 2836201"/>
              <a:gd name="connsiteY10" fmla="*/ 1207373 h 3789428"/>
              <a:gd name="connsiteX11" fmla="*/ 124414 w 2836201"/>
              <a:gd name="connsiteY11" fmla="*/ 3682142 h 3789428"/>
              <a:gd name="connsiteX12" fmla="*/ 0 w 2836201"/>
              <a:gd name="connsiteY12" fmla="*/ 3789428 h 3789428"/>
              <a:gd name="connsiteX13" fmla="*/ 56160 w 2836201"/>
              <a:gd name="connsiteY13" fmla="*/ 3789428 h 3789428"/>
              <a:gd name="connsiteX14" fmla="*/ 2780041 w 2836201"/>
              <a:gd name="connsiteY14" fmla="*/ 3789428 h 3789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36201" h="3789428">
                <a:moveTo>
                  <a:pt x="2836201" y="3789428"/>
                </a:moveTo>
                <a:lnTo>
                  <a:pt x="2711787" y="3682142"/>
                </a:lnTo>
                <a:cubicBezTo>
                  <a:pt x="2221675" y="3205543"/>
                  <a:pt x="1888961" y="2276012"/>
                  <a:pt x="1888961" y="1207373"/>
                </a:cubicBezTo>
                <a:cubicBezTo>
                  <a:pt x="1888961" y="1110224"/>
                  <a:pt x="1891711" y="1014224"/>
                  <a:pt x="1897078" y="919610"/>
                </a:cubicBezTo>
                <a:lnTo>
                  <a:pt x="1902386" y="857358"/>
                </a:lnTo>
                <a:lnTo>
                  <a:pt x="2275459" y="857358"/>
                </a:lnTo>
                <a:lnTo>
                  <a:pt x="1418101" y="0"/>
                </a:lnTo>
                <a:lnTo>
                  <a:pt x="560743" y="857358"/>
                </a:lnTo>
                <a:lnTo>
                  <a:pt x="933815" y="857358"/>
                </a:lnTo>
                <a:lnTo>
                  <a:pt x="939123" y="919610"/>
                </a:lnTo>
                <a:cubicBezTo>
                  <a:pt x="944490" y="1014224"/>
                  <a:pt x="947240" y="1110224"/>
                  <a:pt x="947240" y="1207373"/>
                </a:cubicBezTo>
                <a:cubicBezTo>
                  <a:pt x="947240" y="2276012"/>
                  <a:pt x="614527" y="3205543"/>
                  <a:pt x="124414" y="3682142"/>
                </a:cubicBezTo>
                <a:lnTo>
                  <a:pt x="0" y="3789428"/>
                </a:lnTo>
                <a:lnTo>
                  <a:pt x="56160" y="3789428"/>
                </a:lnTo>
                <a:lnTo>
                  <a:pt x="2780041" y="3789428"/>
                </a:lnTo>
                <a:close/>
              </a:path>
            </a:pathLst>
          </a:custGeom>
          <a:gradFill flip="none" rotWithShape="1">
            <a:gsLst>
              <a:gs pos="73000">
                <a:schemeClr val="accent1">
                  <a:alpha val="0"/>
                </a:schemeClr>
              </a:gs>
              <a:gs pos="0">
                <a:schemeClr val="accent2">
                  <a:alpha val="9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marL="0" marR="0" lvl="0" indent="0" algn="ctr" defTabSz="11518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pic>
        <p:nvPicPr>
          <p:cNvPr id="31" name="图片 30" descr="download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1405" y="4526280"/>
            <a:ext cx="2904490" cy="1263650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3" name="图片 32" descr="download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65955" y="4407535"/>
            <a:ext cx="2904490" cy="12998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4" name="文本框 33"/>
          <p:cNvSpPr txBox="1"/>
          <p:nvPr/>
        </p:nvSpPr>
        <p:spPr>
          <a:xfrm>
            <a:off x="4510405" y="3452495"/>
            <a:ext cx="2666365" cy="662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当材料数量上升时，时间成本和出错概率都会快速增加。</a:t>
            </a:r>
            <a:endParaRPr lang="en-US" sz="16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lvl="0" algn="ctr">
              <a:buClrTx/>
              <a:buSzTx/>
              <a:buFontTx/>
            </a:pPr>
            <a:endParaRPr lang="en-US" sz="16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35" name="任意多边形 24"/>
          <p:cNvSpPr/>
          <p:nvPr>
            <p:custDataLst>
              <p:tags r:id="rId20"/>
            </p:custDataLst>
          </p:nvPr>
        </p:nvSpPr>
        <p:spPr bwMode="auto">
          <a:xfrm rot="10800000">
            <a:off x="5184775" y="3141980"/>
            <a:ext cx="1331595" cy="330835"/>
          </a:xfrm>
          <a:custGeom>
            <a:avLst/>
            <a:gdLst>
              <a:gd name="connsiteX0" fmla="*/ 2836201 w 2836201"/>
              <a:gd name="connsiteY0" fmla="*/ 3789428 h 3789428"/>
              <a:gd name="connsiteX1" fmla="*/ 2711787 w 2836201"/>
              <a:gd name="connsiteY1" fmla="*/ 3682142 h 3789428"/>
              <a:gd name="connsiteX2" fmla="*/ 1888961 w 2836201"/>
              <a:gd name="connsiteY2" fmla="*/ 1207373 h 3789428"/>
              <a:gd name="connsiteX3" fmla="*/ 1897078 w 2836201"/>
              <a:gd name="connsiteY3" fmla="*/ 919610 h 3789428"/>
              <a:gd name="connsiteX4" fmla="*/ 1902386 w 2836201"/>
              <a:gd name="connsiteY4" fmla="*/ 857358 h 3789428"/>
              <a:gd name="connsiteX5" fmla="*/ 2275459 w 2836201"/>
              <a:gd name="connsiteY5" fmla="*/ 857358 h 3789428"/>
              <a:gd name="connsiteX6" fmla="*/ 1418101 w 2836201"/>
              <a:gd name="connsiteY6" fmla="*/ 0 h 3789428"/>
              <a:gd name="connsiteX7" fmla="*/ 560743 w 2836201"/>
              <a:gd name="connsiteY7" fmla="*/ 857358 h 3789428"/>
              <a:gd name="connsiteX8" fmla="*/ 933815 w 2836201"/>
              <a:gd name="connsiteY8" fmla="*/ 857358 h 3789428"/>
              <a:gd name="connsiteX9" fmla="*/ 939123 w 2836201"/>
              <a:gd name="connsiteY9" fmla="*/ 919610 h 3789428"/>
              <a:gd name="connsiteX10" fmla="*/ 947240 w 2836201"/>
              <a:gd name="connsiteY10" fmla="*/ 1207373 h 3789428"/>
              <a:gd name="connsiteX11" fmla="*/ 124414 w 2836201"/>
              <a:gd name="connsiteY11" fmla="*/ 3682142 h 3789428"/>
              <a:gd name="connsiteX12" fmla="*/ 0 w 2836201"/>
              <a:gd name="connsiteY12" fmla="*/ 3789428 h 3789428"/>
              <a:gd name="connsiteX13" fmla="*/ 56160 w 2836201"/>
              <a:gd name="connsiteY13" fmla="*/ 3789428 h 3789428"/>
              <a:gd name="connsiteX14" fmla="*/ 2780041 w 2836201"/>
              <a:gd name="connsiteY14" fmla="*/ 3789428 h 3789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36201" h="3789428">
                <a:moveTo>
                  <a:pt x="2836201" y="3789428"/>
                </a:moveTo>
                <a:lnTo>
                  <a:pt x="2711787" y="3682142"/>
                </a:lnTo>
                <a:cubicBezTo>
                  <a:pt x="2221675" y="3205543"/>
                  <a:pt x="1888961" y="2276012"/>
                  <a:pt x="1888961" y="1207373"/>
                </a:cubicBezTo>
                <a:cubicBezTo>
                  <a:pt x="1888961" y="1110224"/>
                  <a:pt x="1891711" y="1014224"/>
                  <a:pt x="1897078" y="919610"/>
                </a:cubicBezTo>
                <a:lnTo>
                  <a:pt x="1902386" y="857358"/>
                </a:lnTo>
                <a:lnTo>
                  <a:pt x="2275459" y="857358"/>
                </a:lnTo>
                <a:lnTo>
                  <a:pt x="1418101" y="0"/>
                </a:lnTo>
                <a:lnTo>
                  <a:pt x="560743" y="857358"/>
                </a:lnTo>
                <a:lnTo>
                  <a:pt x="933815" y="857358"/>
                </a:lnTo>
                <a:lnTo>
                  <a:pt x="939123" y="919610"/>
                </a:lnTo>
                <a:cubicBezTo>
                  <a:pt x="944490" y="1014224"/>
                  <a:pt x="947240" y="1110224"/>
                  <a:pt x="947240" y="1207373"/>
                </a:cubicBezTo>
                <a:cubicBezTo>
                  <a:pt x="947240" y="2276012"/>
                  <a:pt x="614527" y="3205543"/>
                  <a:pt x="124414" y="3682142"/>
                </a:cubicBezTo>
                <a:lnTo>
                  <a:pt x="0" y="3789428"/>
                </a:lnTo>
                <a:lnTo>
                  <a:pt x="56160" y="3789428"/>
                </a:lnTo>
                <a:lnTo>
                  <a:pt x="2780041" y="3789428"/>
                </a:lnTo>
                <a:close/>
              </a:path>
            </a:pathLst>
          </a:custGeom>
          <a:gradFill flip="none" rotWithShape="1">
            <a:gsLst>
              <a:gs pos="73000">
                <a:schemeClr val="accent1">
                  <a:alpha val="0"/>
                </a:schemeClr>
              </a:gs>
              <a:gs pos="0">
                <a:schemeClr val="accent2">
                  <a:alpha val="9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marL="0" marR="0" lvl="0" indent="0" algn="ctr" defTabSz="11518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37" name="任意多边形 24"/>
          <p:cNvSpPr/>
          <p:nvPr>
            <p:custDataLst>
              <p:tags r:id="rId21"/>
            </p:custDataLst>
          </p:nvPr>
        </p:nvSpPr>
        <p:spPr bwMode="auto">
          <a:xfrm rot="10800000">
            <a:off x="5206365" y="4053205"/>
            <a:ext cx="1331595" cy="330835"/>
          </a:xfrm>
          <a:custGeom>
            <a:avLst/>
            <a:gdLst>
              <a:gd name="connsiteX0" fmla="*/ 2836201 w 2836201"/>
              <a:gd name="connsiteY0" fmla="*/ 3789428 h 3789428"/>
              <a:gd name="connsiteX1" fmla="*/ 2711787 w 2836201"/>
              <a:gd name="connsiteY1" fmla="*/ 3682142 h 3789428"/>
              <a:gd name="connsiteX2" fmla="*/ 1888961 w 2836201"/>
              <a:gd name="connsiteY2" fmla="*/ 1207373 h 3789428"/>
              <a:gd name="connsiteX3" fmla="*/ 1897078 w 2836201"/>
              <a:gd name="connsiteY3" fmla="*/ 919610 h 3789428"/>
              <a:gd name="connsiteX4" fmla="*/ 1902386 w 2836201"/>
              <a:gd name="connsiteY4" fmla="*/ 857358 h 3789428"/>
              <a:gd name="connsiteX5" fmla="*/ 2275459 w 2836201"/>
              <a:gd name="connsiteY5" fmla="*/ 857358 h 3789428"/>
              <a:gd name="connsiteX6" fmla="*/ 1418101 w 2836201"/>
              <a:gd name="connsiteY6" fmla="*/ 0 h 3789428"/>
              <a:gd name="connsiteX7" fmla="*/ 560743 w 2836201"/>
              <a:gd name="connsiteY7" fmla="*/ 857358 h 3789428"/>
              <a:gd name="connsiteX8" fmla="*/ 933815 w 2836201"/>
              <a:gd name="connsiteY8" fmla="*/ 857358 h 3789428"/>
              <a:gd name="connsiteX9" fmla="*/ 939123 w 2836201"/>
              <a:gd name="connsiteY9" fmla="*/ 919610 h 3789428"/>
              <a:gd name="connsiteX10" fmla="*/ 947240 w 2836201"/>
              <a:gd name="connsiteY10" fmla="*/ 1207373 h 3789428"/>
              <a:gd name="connsiteX11" fmla="*/ 124414 w 2836201"/>
              <a:gd name="connsiteY11" fmla="*/ 3682142 h 3789428"/>
              <a:gd name="connsiteX12" fmla="*/ 0 w 2836201"/>
              <a:gd name="connsiteY12" fmla="*/ 3789428 h 3789428"/>
              <a:gd name="connsiteX13" fmla="*/ 56160 w 2836201"/>
              <a:gd name="connsiteY13" fmla="*/ 3789428 h 3789428"/>
              <a:gd name="connsiteX14" fmla="*/ 2780041 w 2836201"/>
              <a:gd name="connsiteY14" fmla="*/ 3789428 h 3789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36201" h="3789428">
                <a:moveTo>
                  <a:pt x="2836201" y="3789428"/>
                </a:moveTo>
                <a:lnTo>
                  <a:pt x="2711787" y="3682142"/>
                </a:lnTo>
                <a:cubicBezTo>
                  <a:pt x="2221675" y="3205543"/>
                  <a:pt x="1888961" y="2276012"/>
                  <a:pt x="1888961" y="1207373"/>
                </a:cubicBezTo>
                <a:cubicBezTo>
                  <a:pt x="1888961" y="1110224"/>
                  <a:pt x="1891711" y="1014224"/>
                  <a:pt x="1897078" y="919610"/>
                </a:cubicBezTo>
                <a:lnTo>
                  <a:pt x="1902386" y="857358"/>
                </a:lnTo>
                <a:lnTo>
                  <a:pt x="2275459" y="857358"/>
                </a:lnTo>
                <a:lnTo>
                  <a:pt x="1418101" y="0"/>
                </a:lnTo>
                <a:lnTo>
                  <a:pt x="560743" y="857358"/>
                </a:lnTo>
                <a:lnTo>
                  <a:pt x="933815" y="857358"/>
                </a:lnTo>
                <a:lnTo>
                  <a:pt x="939123" y="919610"/>
                </a:lnTo>
                <a:cubicBezTo>
                  <a:pt x="944490" y="1014224"/>
                  <a:pt x="947240" y="1110224"/>
                  <a:pt x="947240" y="1207373"/>
                </a:cubicBezTo>
                <a:cubicBezTo>
                  <a:pt x="947240" y="2276012"/>
                  <a:pt x="614527" y="3205543"/>
                  <a:pt x="124414" y="3682142"/>
                </a:cubicBezTo>
                <a:lnTo>
                  <a:pt x="0" y="3789428"/>
                </a:lnTo>
                <a:lnTo>
                  <a:pt x="56160" y="3789428"/>
                </a:lnTo>
                <a:lnTo>
                  <a:pt x="2780041" y="3789428"/>
                </a:lnTo>
                <a:close/>
              </a:path>
            </a:pathLst>
          </a:custGeom>
          <a:gradFill flip="none" rotWithShape="1">
            <a:gsLst>
              <a:gs pos="73000">
                <a:schemeClr val="accent1">
                  <a:alpha val="0"/>
                </a:schemeClr>
              </a:gs>
              <a:gs pos="0">
                <a:schemeClr val="accent2">
                  <a:alpha val="9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marL="0" marR="0" lvl="0" indent="0" algn="ctr" defTabSz="11518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pic>
        <p:nvPicPr>
          <p:cNvPr id="38" name="图片 37" descr="0f93517340a142fba65283d09fcc5f66.jpeg~tplv-a9rns2rl98-downsize_watermark_1_5_b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27340" y="4384040"/>
            <a:ext cx="2904490" cy="1125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9" name="文本框 38"/>
          <p:cNvSpPr txBox="1"/>
          <p:nvPr/>
        </p:nvSpPr>
        <p:spPr>
          <a:xfrm>
            <a:off x="8045450" y="3303905"/>
            <a:ext cx="2667000" cy="663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缺少证据链会降低系统在实际业务中的可用性。</a:t>
            </a:r>
            <a:endParaRPr lang="en-US" sz="16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lvl="0" algn="ctr">
              <a:buClrTx/>
              <a:buSzTx/>
              <a:buFontTx/>
            </a:pPr>
            <a:endParaRPr lang="en-US" sz="16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40" name="任意多边形 24"/>
          <p:cNvSpPr/>
          <p:nvPr>
            <p:custDataLst>
              <p:tags r:id="rId23"/>
            </p:custDataLst>
          </p:nvPr>
        </p:nvSpPr>
        <p:spPr bwMode="auto">
          <a:xfrm rot="10800000">
            <a:off x="8702040" y="2952115"/>
            <a:ext cx="1331595" cy="330835"/>
          </a:xfrm>
          <a:custGeom>
            <a:avLst/>
            <a:gdLst>
              <a:gd name="connsiteX0" fmla="*/ 2836201 w 2836201"/>
              <a:gd name="connsiteY0" fmla="*/ 3789428 h 3789428"/>
              <a:gd name="connsiteX1" fmla="*/ 2711787 w 2836201"/>
              <a:gd name="connsiteY1" fmla="*/ 3682142 h 3789428"/>
              <a:gd name="connsiteX2" fmla="*/ 1888961 w 2836201"/>
              <a:gd name="connsiteY2" fmla="*/ 1207373 h 3789428"/>
              <a:gd name="connsiteX3" fmla="*/ 1897078 w 2836201"/>
              <a:gd name="connsiteY3" fmla="*/ 919610 h 3789428"/>
              <a:gd name="connsiteX4" fmla="*/ 1902386 w 2836201"/>
              <a:gd name="connsiteY4" fmla="*/ 857358 h 3789428"/>
              <a:gd name="connsiteX5" fmla="*/ 2275459 w 2836201"/>
              <a:gd name="connsiteY5" fmla="*/ 857358 h 3789428"/>
              <a:gd name="connsiteX6" fmla="*/ 1418101 w 2836201"/>
              <a:gd name="connsiteY6" fmla="*/ 0 h 3789428"/>
              <a:gd name="connsiteX7" fmla="*/ 560743 w 2836201"/>
              <a:gd name="connsiteY7" fmla="*/ 857358 h 3789428"/>
              <a:gd name="connsiteX8" fmla="*/ 933815 w 2836201"/>
              <a:gd name="connsiteY8" fmla="*/ 857358 h 3789428"/>
              <a:gd name="connsiteX9" fmla="*/ 939123 w 2836201"/>
              <a:gd name="connsiteY9" fmla="*/ 919610 h 3789428"/>
              <a:gd name="connsiteX10" fmla="*/ 947240 w 2836201"/>
              <a:gd name="connsiteY10" fmla="*/ 1207373 h 3789428"/>
              <a:gd name="connsiteX11" fmla="*/ 124414 w 2836201"/>
              <a:gd name="connsiteY11" fmla="*/ 3682142 h 3789428"/>
              <a:gd name="connsiteX12" fmla="*/ 0 w 2836201"/>
              <a:gd name="connsiteY12" fmla="*/ 3789428 h 3789428"/>
              <a:gd name="connsiteX13" fmla="*/ 56160 w 2836201"/>
              <a:gd name="connsiteY13" fmla="*/ 3789428 h 3789428"/>
              <a:gd name="connsiteX14" fmla="*/ 2780041 w 2836201"/>
              <a:gd name="connsiteY14" fmla="*/ 3789428 h 3789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36201" h="3789428">
                <a:moveTo>
                  <a:pt x="2836201" y="3789428"/>
                </a:moveTo>
                <a:lnTo>
                  <a:pt x="2711787" y="3682142"/>
                </a:lnTo>
                <a:cubicBezTo>
                  <a:pt x="2221675" y="3205543"/>
                  <a:pt x="1888961" y="2276012"/>
                  <a:pt x="1888961" y="1207373"/>
                </a:cubicBezTo>
                <a:cubicBezTo>
                  <a:pt x="1888961" y="1110224"/>
                  <a:pt x="1891711" y="1014224"/>
                  <a:pt x="1897078" y="919610"/>
                </a:cubicBezTo>
                <a:lnTo>
                  <a:pt x="1902386" y="857358"/>
                </a:lnTo>
                <a:lnTo>
                  <a:pt x="2275459" y="857358"/>
                </a:lnTo>
                <a:lnTo>
                  <a:pt x="1418101" y="0"/>
                </a:lnTo>
                <a:lnTo>
                  <a:pt x="560743" y="857358"/>
                </a:lnTo>
                <a:lnTo>
                  <a:pt x="933815" y="857358"/>
                </a:lnTo>
                <a:lnTo>
                  <a:pt x="939123" y="919610"/>
                </a:lnTo>
                <a:cubicBezTo>
                  <a:pt x="944490" y="1014224"/>
                  <a:pt x="947240" y="1110224"/>
                  <a:pt x="947240" y="1207373"/>
                </a:cubicBezTo>
                <a:cubicBezTo>
                  <a:pt x="947240" y="2276012"/>
                  <a:pt x="614527" y="3205543"/>
                  <a:pt x="124414" y="3682142"/>
                </a:cubicBezTo>
                <a:lnTo>
                  <a:pt x="0" y="3789428"/>
                </a:lnTo>
                <a:lnTo>
                  <a:pt x="56160" y="3789428"/>
                </a:lnTo>
                <a:lnTo>
                  <a:pt x="2780041" y="3789428"/>
                </a:lnTo>
                <a:close/>
              </a:path>
            </a:pathLst>
          </a:custGeom>
          <a:gradFill flip="none" rotWithShape="1">
            <a:gsLst>
              <a:gs pos="73000">
                <a:schemeClr val="accent1">
                  <a:alpha val="0"/>
                </a:schemeClr>
              </a:gs>
              <a:gs pos="0">
                <a:schemeClr val="accent2">
                  <a:alpha val="9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marL="0" marR="0" lvl="0" indent="0" algn="ctr" defTabSz="11518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41" name="任意多边形 24"/>
          <p:cNvSpPr/>
          <p:nvPr>
            <p:custDataLst>
              <p:tags r:id="rId24"/>
            </p:custDataLst>
          </p:nvPr>
        </p:nvSpPr>
        <p:spPr bwMode="auto">
          <a:xfrm rot="10800000">
            <a:off x="8723630" y="3954145"/>
            <a:ext cx="1331595" cy="330835"/>
          </a:xfrm>
          <a:custGeom>
            <a:avLst/>
            <a:gdLst>
              <a:gd name="connsiteX0" fmla="*/ 2836201 w 2836201"/>
              <a:gd name="connsiteY0" fmla="*/ 3789428 h 3789428"/>
              <a:gd name="connsiteX1" fmla="*/ 2711787 w 2836201"/>
              <a:gd name="connsiteY1" fmla="*/ 3682142 h 3789428"/>
              <a:gd name="connsiteX2" fmla="*/ 1888961 w 2836201"/>
              <a:gd name="connsiteY2" fmla="*/ 1207373 h 3789428"/>
              <a:gd name="connsiteX3" fmla="*/ 1897078 w 2836201"/>
              <a:gd name="connsiteY3" fmla="*/ 919610 h 3789428"/>
              <a:gd name="connsiteX4" fmla="*/ 1902386 w 2836201"/>
              <a:gd name="connsiteY4" fmla="*/ 857358 h 3789428"/>
              <a:gd name="connsiteX5" fmla="*/ 2275459 w 2836201"/>
              <a:gd name="connsiteY5" fmla="*/ 857358 h 3789428"/>
              <a:gd name="connsiteX6" fmla="*/ 1418101 w 2836201"/>
              <a:gd name="connsiteY6" fmla="*/ 0 h 3789428"/>
              <a:gd name="connsiteX7" fmla="*/ 560743 w 2836201"/>
              <a:gd name="connsiteY7" fmla="*/ 857358 h 3789428"/>
              <a:gd name="connsiteX8" fmla="*/ 933815 w 2836201"/>
              <a:gd name="connsiteY8" fmla="*/ 857358 h 3789428"/>
              <a:gd name="connsiteX9" fmla="*/ 939123 w 2836201"/>
              <a:gd name="connsiteY9" fmla="*/ 919610 h 3789428"/>
              <a:gd name="connsiteX10" fmla="*/ 947240 w 2836201"/>
              <a:gd name="connsiteY10" fmla="*/ 1207373 h 3789428"/>
              <a:gd name="connsiteX11" fmla="*/ 124414 w 2836201"/>
              <a:gd name="connsiteY11" fmla="*/ 3682142 h 3789428"/>
              <a:gd name="connsiteX12" fmla="*/ 0 w 2836201"/>
              <a:gd name="connsiteY12" fmla="*/ 3789428 h 3789428"/>
              <a:gd name="connsiteX13" fmla="*/ 56160 w 2836201"/>
              <a:gd name="connsiteY13" fmla="*/ 3789428 h 3789428"/>
              <a:gd name="connsiteX14" fmla="*/ 2780041 w 2836201"/>
              <a:gd name="connsiteY14" fmla="*/ 3789428 h 3789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36201" h="3789428">
                <a:moveTo>
                  <a:pt x="2836201" y="3789428"/>
                </a:moveTo>
                <a:lnTo>
                  <a:pt x="2711787" y="3682142"/>
                </a:lnTo>
                <a:cubicBezTo>
                  <a:pt x="2221675" y="3205543"/>
                  <a:pt x="1888961" y="2276012"/>
                  <a:pt x="1888961" y="1207373"/>
                </a:cubicBezTo>
                <a:cubicBezTo>
                  <a:pt x="1888961" y="1110224"/>
                  <a:pt x="1891711" y="1014224"/>
                  <a:pt x="1897078" y="919610"/>
                </a:cubicBezTo>
                <a:lnTo>
                  <a:pt x="1902386" y="857358"/>
                </a:lnTo>
                <a:lnTo>
                  <a:pt x="2275459" y="857358"/>
                </a:lnTo>
                <a:lnTo>
                  <a:pt x="1418101" y="0"/>
                </a:lnTo>
                <a:lnTo>
                  <a:pt x="560743" y="857358"/>
                </a:lnTo>
                <a:lnTo>
                  <a:pt x="933815" y="857358"/>
                </a:lnTo>
                <a:lnTo>
                  <a:pt x="939123" y="919610"/>
                </a:lnTo>
                <a:cubicBezTo>
                  <a:pt x="944490" y="1014224"/>
                  <a:pt x="947240" y="1110224"/>
                  <a:pt x="947240" y="1207373"/>
                </a:cubicBezTo>
                <a:cubicBezTo>
                  <a:pt x="947240" y="2276012"/>
                  <a:pt x="614527" y="3205543"/>
                  <a:pt x="124414" y="3682142"/>
                </a:cubicBezTo>
                <a:lnTo>
                  <a:pt x="0" y="3789428"/>
                </a:lnTo>
                <a:lnTo>
                  <a:pt x="56160" y="3789428"/>
                </a:lnTo>
                <a:lnTo>
                  <a:pt x="2780041" y="3789428"/>
                </a:lnTo>
                <a:close/>
              </a:path>
            </a:pathLst>
          </a:custGeom>
          <a:gradFill flip="none" rotWithShape="1">
            <a:gsLst>
              <a:gs pos="73000">
                <a:schemeClr val="accent1">
                  <a:alpha val="0"/>
                </a:schemeClr>
              </a:gs>
              <a:gs pos="0">
                <a:schemeClr val="accent2">
                  <a:alpha val="9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marL="0" marR="0" lvl="0" indent="0" algn="ctr" defTabSz="11518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155448"/>
            <a:ext cx="2011680" cy="73152"/>
          </a:xfrm>
          <a:prstGeom prst="rect">
            <a:avLst/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" y="6066535"/>
            <a:ext cx="11064240" cy="0"/>
          </a:xfrm>
          <a:prstGeom prst="line">
            <a:avLst/>
          </a:prstGeom>
          <a:noFill/>
          <a:ln w="12700">
            <a:solidFill>
              <a:srgbClr val="BF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411480"/>
            <a:ext cx="256032" cy="256032"/>
          </a:xfrm>
          <a:prstGeom prst="ellipse">
            <a:avLst/>
          </a:prstGeom>
          <a:solidFill>
            <a:srgbClr val="DCEBFF">
              <a:alpha val="85000"/>
            </a:srgbClr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2256" y="347472"/>
            <a:ext cx="137160" cy="137160"/>
          </a:xfrm>
          <a:prstGeom prst="ellipse">
            <a:avLst/>
          </a:prstGeom>
          <a:solidFill>
            <a:srgbClr val="92F0FF">
              <a:alpha val="90000"/>
            </a:srgbClr>
          </a:solidFill>
          <a:ln w="12700">
            <a:solidFill>
              <a:srgbClr val="92F0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传统处理方式的局限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3105" y="996950"/>
            <a:ext cx="7193280" cy="2197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现有方案往往只能解决某一环，难以同时兼顾灵活性、准确性与可解释性</a:t>
            </a:r>
            <a:endParaRPr lang="en-US" sz="16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/ 背景与问题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67512" y="6130543"/>
            <a:ext cx="6190488" cy="57200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单点方案容易“看起来能用”，但难以在复杂业务中长期稳定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1627632"/>
            <a:ext cx="3429000" cy="3182111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93648" y="1754761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纯人工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02752" y="1627632"/>
            <a:ext cx="3429000" cy="3182111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92312" y="1731267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纯模板系统</a:t>
            </a:r>
            <a:endParaRPr lang="en-US" sz="1800" dirty="0"/>
          </a:p>
        </p:txBody>
      </p:sp>
      <p:sp>
        <p:nvSpPr>
          <p:cNvPr id="46" name="Shape 34"/>
          <p:cNvSpPr/>
          <p:nvPr>
            <p:custDataLst>
              <p:tags r:id="rId1"/>
            </p:custDataLst>
          </p:nvPr>
        </p:nvSpPr>
        <p:spPr>
          <a:xfrm>
            <a:off x="344170" y="2176145"/>
            <a:ext cx="11746230" cy="69469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225287"/>
            <a:ext cx="10424160" cy="640080"/>
          </a:xfrm>
          <a:prstGeom prst="roundRect">
            <a:avLst>
              <a:gd name="adj" fmla="val 11429"/>
            </a:avLst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394450"/>
            <a:ext cx="612648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结论</a:t>
            </a:r>
            <a:endParaRPr lang="en-US" sz="2000" dirty="0"/>
          </a:p>
        </p:txBody>
      </p:sp>
      <p:sp>
        <p:nvSpPr>
          <p:cNvPr id="30" name="Shape 34"/>
          <p:cNvSpPr/>
          <p:nvPr>
            <p:custDataLst>
              <p:tags r:id="rId2"/>
            </p:custDataLst>
          </p:nvPr>
        </p:nvSpPr>
        <p:spPr>
          <a:xfrm>
            <a:off x="344170" y="3037840"/>
            <a:ext cx="11746230" cy="69469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92224" y="5275579"/>
            <a:ext cx="9509760" cy="521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传统方案很难兼顾 “灵活适配文档变化、稳定提取结果、可回查来源依据” 这三个关键目标。</a:t>
            </a:r>
            <a:endParaRPr lang="en-US" dirty="0"/>
          </a:p>
        </p:txBody>
      </p:sp>
      <p:sp>
        <p:nvSpPr>
          <p:cNvPr id="31" name="Shape 34"/>
          <p:cNvSpPr/>
          <p:nvPr>
            <p:custDataLst>
              <p:tags r:id="rId3"/>
            </p:custDataLst>
          </p:nvPr>
        </p:nvSpPr>
        <p:spPr>
          <a:xfrm>
            <a:off x="344170" y="3951605"/>
            <a:ext cx="11746230" cy="69469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22" name="文本框 21"/>
          <p:cNvSpPr txBox="1"/>
          <p:nvPr/>
        </p:nvSpPr>
        <p:spPr>
          <a:xfrm>
            <a:off x="713105" y="2313940"/>
            <a:ext cx="3428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优点：理解强、可临时判断</a:t>
            </a:r>
            <a:endParaRPr lang="en-US" dirty="0"/>
          </a:p>
          <a:p>
            <a:pPr algn="ctr"/>
            <a:endParaRPr lang="en-US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737870" y="4137025"/>
            <a:ext cx="3392170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en-US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适用：少量低频场景</a:t>
            </a:r>
            <a:endParaRPr lang="en-US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lvl="0" algn="ctr">
              <a:buClrTx/>
              <a:buSzTx/>
              <a:buFontTx/>
            </a:pPr>
            <a:endParaRPr lang="en-US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317230" y="2385060"/>
            <a:ext cx="3396615" cy="4337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优点：流程清晰、界面友好</a:t>
            </a:r>
            <a:endParaRPr lang="en-US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lvl="0" algn="ctr">
              <a:buClrTx/>
              <a:buSzTx/>
              <a:buFontTx/>
            </a:pPr>
            <a:endParaRPr lang="en-US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307705" y="4117340"/>
            <a:ext cx="3406775" cy="433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适用：模板强约束场景</a:t>
            </a:r>
            <a:endParaRPr lang="en-US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lvl="0" algn="ctr">
              <a:buClrTx/>
              <a:buSzTx/>
              <a:buFontTx/>
            </a:pPr>
            <a:endParaRPr lang="en-US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36600" y="3060065"/>
            <a:ext cx="3406775" cy="7150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缺点：效率低、不可规模化、错误率受人影响明显</a:t>
            </a:r>
            <a:endParaRPr lang="en-US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lvl="0" algn="ctr">
              <a:buClrTx/>
              <a:buSzTx/>
              <a:buFontTx/>
            </a:pPr>
            <a:endParaRPr lang="en-US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308975" y="3190875"/>
            <a:ext cx="3392805" cy="5924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缺点：无法适配开放式表头，扩展困难</a:t>
            </a:r>
            <a:endParaRPr lang="en-US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4507865" y="1627505"/>
            <a:ext cx="3429000" cy="3181350"/>
            <a:chOff x="7099" y="2563"/>
            <a:chExt cx="5400" cy="5010"/>
          </a:xfrm>
        </p:grpSpPr>
        <p:sp>
          <p:nvSpPr>
            <p:cNvPr id="15" name="Shape 13"/>
            <p:cNvSpPr/>
            <p:nvPr/>
          </p:nvSpPr>
          <p:spPr>
            <a:xfrm>
              <a:off x="7099" y="2563"/>
              <a:ext cx="5400" cy="5011"/>
            </a:xfrm>
            <a:prstGeom prst="roundRect">
              <a:avLst>
                <a:gd name="adj" fmla="val 2133"/>
              </a:avLst>
            </a:prstGeom>
            <a:solidFill>
              <a:srgbClr val="F7FAFF"/>
            </a:solidFill>
            <a:ln w="12700">
              <a:solidFill>
                <a:srgbClr val="BFD4F2"/>
              </a:solidFill>
              <a:prstDash val="solid"/>
            </a:ln>
            <a:effectLst>
              <a:outerShdw blurRad="19050" dist="1016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6" name="Text 14"/>
            <p:cNvSpPr/>
            <p:nvPr/>
          </p:nvSpPr>
          <p:spPr>
            <a:xfrm>
              <a:off x="7560" y="2763"/>
              <a:ext cx="4824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130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纯规则抽取</a:t>
              </a:r>
              <a:endParaRPr lang="en-US" sz="1800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104" y="4864"/>
              <a:ext cx="5342" cy="107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l">
                <a:buClrTx/>
                <a:buSzTx/>
                <a:buFontTx/>
              </a:pPr>
              <a:r>
                <a:rPr lang="en-US" dirty="0">
                  <a:solidFill>
                    <a:srgbClr val="5D70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缺</a:t>
              </a:r>
              <a:r>
                <a:rPr lang="en-US" dirty="0">
                  <a:solidFill>
                    <a:srgbClr val="5D70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点：一旦版式变化，规则</a:t>
              </a:r>
              <a:r>
                <a:rPr lang="en-US" dirty="0">
                  <a:solidFill>
                    <a:srgbClr val="5D70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  </a:t>
              </a:r>
              <a:r>
                <a:rPr lang="en-US" dirty="0">
                  <a:solidFill>
                    <a:srgbClr val="5D70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容易失效</a:t>
              </a:r>
              <a:endParaRPr lang="en-US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endParaRPr>
            </a:p>
            <a:p>
              <a:pPr lvl="0" algn="l">
                <a:buClrTx/>
                <a:buSzTx/>
                <a:buFontTx/>
              </a:pPr>
              <a:endParaRPr lang="en-US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7154" y="6515"/>
              <a:ext cx="5297" cy="68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l">
                <a:buClrTx/>
                <a:buSzTx/>
                <a:buFontTx/>
              </a:pPr>
              <a:r>
                <a:rPr lang="en-US" dirty="0">
                  <a:solidFill>
                    <a:srgbClr val="5D70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适用：固定模板场景</a:t>
              </a:r>
              <a:endParaRPr lang="en-US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endParaRPr>
            </a:p>
            <a:p>
              <a:pPr lvl="0" algn="l">
                <a:buClrTx/>
                <a:buSzTx/>
                <a:buFontTx/>
              </a:pPr>
              <a:endParaRPr lang="en-US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endParaRPr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7140" y="3705"/>
              <a:ext cx="5342" cy="101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dirty="0">
                  <a:solidFill>
                    <a:srgbClr val="5D70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优点：速度快、成本可控</a:t>
              </a:r>
              <a:endParaRPr lang="en-US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endParaRPr>
            </a:p>
            <a:p>
              <a:pPr lvl="0" algn="l">
                <a:buClrTx/>
                <a:buSzTx/>
                <a:buFontTx/>
              </a:pPr>
              <a:endParaRPr lang="en-US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155448"/>
            <a:ext cx="2011680" cy="73152"/>
          </a:xfrm>
          <a:prstGeom prst="rect">
            <a:avLst/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071616"/>
            <a:ext cx="11064240" cy="0"/>
          </a:xfrm>
          <a:prstGeom prst="line">
            <a:avLst/>
          </a:prstGeom>
          <a:noFill/>
          <a:ln w="12700">
            <a:solidFill>
              <a:srgbClr val="BF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411480"/>
            <a:ext cx="256032" cy="256032"/>
          </a:xfrm>
          <a:prstGeom prst="ellipse">
            <a:avLst/>
          </a:prstGeom>
          <a:solidFill>
            <a:srgbClr val="DCEBFF">
              <a:alpha val="85000"/>
            </a:srgbClr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2256" y="347472"/>
            <a:ext cx="137160" cy="137160"/>
          </a:xfrm>
          <a:prstGeom prst="ellipse">
            <a:avLst/>
          </a:prstGeom>
          <a:solidFill>
            <a:srgbClr val="92F0FF">
              <a:alpha val="90000"/>
            </a:srgbClr>
          </a:solidFill>
          <a:ln w="12700">
            <a:solidFill>
              <a:srgbClr val="92F0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我们的目标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62940" y="1056132"/>
            <a:ext cx="6217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围绕“用户先定义目标，系统自动完成理解与填报”构建完整闭环</a:t>
            </a:r>
            <a:endParaRPr lang="en-US" sz="16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/ 背景与问题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" y="6291072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从非结构化文档，到可直接使用的数据结果</a:t>
            </a:r>
            <a:endParaRPr lang="en-US" sz="1400" dirty="0"/>
          </a:p>
        </p:txBody>
      </p:sp>
      <p:grpSp>
        <p:nvGrpSpPr>
          <p:cNvPr id="44" name="组合 43"/>
          <p:cNvGrpSpPr/>
          <p:nvPr/>
        </p:nvGrpSpPr>
        <p:grpSpPr>
          <a:xfrm>
            <a:off x="0" y="1900555"/>
            <a:ext cx="12191365" cy="960120"/>
            <a:chOff x="1454" y="2981"/>
            <a:chExt cx="15912" cy="1512"/>
          </a:xfrm>
        </p:grpSpPr>
        <p:sp>
          <p:nvSpPr>
            <p:cNvPr id="12" name="Shape 10"/>
            <p:cNvSpPr/>
            <p:nvPr/>
          </p:nvSpPr>
          <p:spPr>
            <a:xfrm>
              <a:off x="1454" y="2981"/>
              <a:ext cx="15912" cy="1512"/>
            </a:xfrm>
            <a:prstGeom prst="roundRect">
              <a:avLst>
                <a:gd name="adj" fmla="val 7619"/>
              </a:avLst>
            </a:prstGeom>
            <a:solidFill>
              <a:srgbClr val="EEF5FF"/>
            </a:solidFill>
            <a:ln w="12700">
              <a:solidFill>
                <a:srgbClr val="1F63F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1742" y="3240"/>
              <a:ext cx="15336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130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核心目标</a:t>
              </a:r>
              <a:endParaRPr lang="en-US" sz="2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742" y="3787"/>
              <a:ext cx="15336" cy="475"/>
            </a:xfrm>
            <a:prstGeom prst="rect">
              <a:avLst/>
            </a:prstGeom>
            <a:noFill/>
          </p:spPr>
          <p:txBody>
            <a:bodyPr wrap="square" lIns="254" tIns="254" rIns="254" bIns="254" rtlCol="0" anchor="t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5D70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让用户只需要定义希望输出的字段，系统即可自动完成解析、抽取、匹配、溯源与导出。</a:t>
              </a:r>
              <a:endParaRPr lang="en-US" sz="1600" dirty="0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47320" y="3618865"/>
            <a:ext cx="1800860" cy="1684655"/>
            <a:chOff x="1368" y="5530"/>
            <a:chExt cx="2232" cy="2088"/>
          </a:xfrm>
        </p:grpSpPr>
        <p:sp>
          <p:nvSpPr>
            <p:cNvPr id="19" name="Shape 17"/>
            <p:cNvSpPr/>
            <p:nvPr/>
          </p:nvSpPr>
          <p:spPr>
            <a:xfrm>
              <a:off x="1368" y="5530"/>
              <a:ext cx="2232" cy="2088"/>
            </a:xfrm>
            <a:prstGeom prst="roundRect">
              <a:avLst>
                <a:gd name="adj" fmla="val 4138"/>
              </a:avLst>
            </a:prstGeom>
            <a:solidFill>
              <a:srgbClr val="FFFFFF"/>
            </a:solidFill>
            <a:ln w="12700">
              <a:solidFill>
                <a:srgbClr val="BFD4F2"/>
              </a:solidFill>
              <a:prstDash val="solid"/>
            </a:ln>
          </p:spPr>
        </p:sp>
        <p:grpSp>
          <p:nvGrpSpPr>
            <p:cNvPr id="46" name="组合 45"/>
            <p:cNvGrpSpPr/>
            <p:nvPr/>
          </p:nvGrpSpPr>
          <p:grpSpPr>
            <a:xfrm>
              <a:off x="1541" y="5688"/>
              <a:ext cx="402" cy="402"/>
              <a:chOff x="1541" y="5688"/>
              <a:chExt cx="402" cy="402"/>
            </a:xfrm>
          </p:grpSpPr>
          <p:sp>
            <p:nvSpPr>
              <p:cNvPr id="20" name="Shape 18"/>
              <p:cNvSpPr/>
              <p:nvPr/>
            </p:nvSpPr>
            <p:spPr>
              <a:xfrm>
                <a:off x="1541" y="5688"/>
                <a:ext cx="403" cy="403"/>
              </a:xfrm>
              <a:prstGeom prst="ellipse">
                <a:avLst/>
              </a:prstGeom>
              <a:solidFill>
                <a:srgbClr val="1F63FF"/>
              </a:solidFill>
              <a:ln w="12700">
                <a:solidFill>
                  <a:srgbClr val="1F63FF"/>
                </a:solidFill>
                <a:prstDash val="solid"/>
              </a:ln>
            </p:spPr>
          </p:sp>
          <p:sp>
            <p:nvSpPr>
              <p:cNvPr id="21" name="Text 19"/>
              <p:cNvSpPr/>
              <p:nvPr/>
            </p:nvSpPr>
            <p:spPr>
              <a:xfrm>
                <a:off x="1541" y="5789"/>
                <a:ext cx="403" cy="17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1</a:t>
                </a:r>
                <a:endParaRPr lang="en-US" sz="900" dirty="0"/>
              </a:p>
            </p:txBody>
          </p:sp>
        </p:grpSp>
        <p:sp>
          <p:nvSpPr>
            <p:cNvPr id="22" name="Text 20"/>
            <p:cNvSpPr/>
            <p:nvPr/>
          </p:nvSpPr>
          <p:spPr>
            <a:xfrm>
              <a:off x="2059" y="5760"/>
              <a:ext cx="1426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130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定义表头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397" y="6339"/>
              <a:ext cx="2203" cy="1279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5D70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确定目标列与输出顺序</a:t>
              </a:r>
              <a:endParaRPr lang="en-US" sz="14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577465" y="3562985"/>
            <a:ext cx="1776730" cy="1687830"/>
            <a:chOff x="4823" y="5530"/>
            <a:chExt cx="2233" cy="2088"/>
          </a:xfrm>
        </p:grpSpPr>
        <p:sp>
          <p:nvSpPr>
            <p:cNvPr id="24" name="Shape 22"/>
            <p:cNvSpPr/>
            <p:nvPr/>
          </p:nvSpPr>
          <p:spPr>
            <a:xfrm>
              <a:off x="4824" y="5530"/>
              <a:ext cx="2232" cy="2088"/>
            </a:xfrm>
            <a:prstGeom prst="roundRect">
              <a:avLst>
                <a:gd name="adj" fmla="val 4138"/>
              </a:avLst>
            </a:prstGeom>
            <a:solidFill>
              <a:srgbClr val="FFFFFF"/>
            </a:solidFill>
            <a:ln w="12700">
              <a:solidFill>
                <a:srgbClr val="BFD4F2"/>
              </a:solidFill>
              <a:prstDash val="solid"/>
            </a:ln>
          </p:spPr>
        </p:sp>
        <p:grpSp>
          <p:nvGrpSpPr>
            <p:cNvPr id="49" name="组合 48"/>
            <p:cNvGrpSpPr/>
            <p:nvPr/>
          </p:nvGrpSpPr>
          <p:grpSpPr>
            <a:xfrm>
              <a:off x="4997" y="5688"/>
              <a:ext cx="402" cy="402"/>
              <a:chOff x="4997" y="5688"/>
              <a:chExt cx="402" cy="402"/>
            </a:xfrm>
          </p:grpSpPr>
          <p:sp>
            <p:nvSpPr>
              <p:cNvPr id="25" name="Shape 23"/>
              <p:cNvSpPr/>
              <p:nvPr/>
            </p:nvSpPr>
            <p:spPr>
              <a:xfrm>
                <a:off x="4997" y="5688"/>
                <a:ext cx="403" cy="403"/>
              </a:xfrm>
              <a:prstGeom prst="ellipse">
                <a:avLst/>
              </a:prstGeom>
              <a:solidFill>
                <a:srgbClr val="1F63FF"/>
              </a:solidFill>
              <a:ln w="12700">
                <a:solidFill>
                  <a:srgbClr val="1F63FF"/>
                </a:solidFill>
                <a:prstDash val="solid"/>
              </a:ln>
            </p:spPr>
          </p:sp>
          <p:sp>
            <p:nvSpPr>
              <p:cNvPr id="26" name="Text 24"/>
              <p:cNvSpPr/>
              <p:nvPr/>
            </p:nvSpPr>
            <p:spPr>
              <a:xfrm>
                <a:off x="4997" y="5803"/>
                <a:ext cx="403" cy="17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2</a:t>
                </a:r>
                <a:endParaRPr lang="en-US" sz="900" dirty="0"/>
              </a:p>
            </p:txBody>
          </p:sp>
        </p:grpSp>
        <p:sp>
          <p:nvSpPr>
            <p:cNvPr id="27" name="Text 25"/>
            <p:cNvSpPr/>
            <p:nvPr/>
          </p:nvSpPr>
          <p:spPr>
            <a:xfrm>
              <a:off x="5544" y="5746"/>
              <a:ext cx="1426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130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解析文档</a:t>
              </a:r>
              <a:endParaRPr lang="en-US" sz="16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4823" y="6339"/>
              <a:ext cx="2233" cy="1279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5D70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统一处理多种格式材料</a:t>
              </a:r>
              <a:endParaRPr lang="en-US" sz="1400" dirty="0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5010785" y="3545205"/>
            <a:ext cx="1800860" cy="1684655"/>
            <a:chOff x="8280" y="5530"/>
            <a:chExt cx="2232" cy="2088"/>
          </a:xfrm>
        </p:grpSpPr>
        <p:sp>
          <p:nvSpPr>
            <p:cNvPr id="29" name="Shape 27"/>
            <p:cNvSpPr/>
            <p:nvPr/>
          </p:nvSpPr>
          <p:spPr>
            <a:xfrm>
              <a:off x="8280" y="5530"/>
              <a:ext cx="2232" cy="2088"/>
            </a:xfrm>
            <a:prstGeom prst="roundRect">
              <a:avLst>
                <a:gd name="adj" fmla="val 4138"/>
              </a:avLst>
            </a:prstGeom>
            <a:solidFill>
              <a:srgbClr val="FFFFFF"/>
            </a:solidFill>
            <a:ln w="12700">
              <a:solidFill>
                <a:srgbClr val="BFD4F2"/>
              </a:solidFill>
              <a:prstDash val="solid"/>
            </a:ln>
          </p:spPr>
        </p:sp>
        <p:grpSp>
          <p:nvGrpSpPr>
            <p:cNvPr id="51" name="组合 50"/>
            <p:cNvGrpSpPr/>
            <p:nvPr/>
          </p:nvGrpSpPr>
          <p:grpSpPr>
            <a:xfrm>
              <a:off x="8453" y="5688"/>
              <a:ext cx="402" cy="402"/>
              <a:chOff x="8453" y="5688"/>
              <a:chExt cx="402" cy="402"/>
            </a:xfrm>
          </p:grpSpPr>
          <p:sp>
            <p:nvSpPr>
              <p:cNvPr id="30" name="Shape 28"/>
              <p:cNvSpPr/>
              <p:nvPr/>
            </p:nvSpPr>
            <p:spPr>
              <a:xfrm>
                <a:off x="8453" y="5688"/>
                <a:ext cx="403" cy="403"/>
              </a:xfrm>
              <a:prstGeom prst="ellipse">
                <a:avLst/>
              </a:prstGeom>
              <a:solidFill>
                <a:srgbClr val="1F63FF"/>
              </a:solidFill>
              <a:ln w="12700">
                <a:solidFill>
                  <a:srgbClr val="1F63FF"/>
                </a:solidFill>
                <a:prstDash val="solid"/>
              </a:ln>
            </p:spPr>
          </p:sp>
          <p:sp>
            <p:nvSpPr>
              <p:cNvPr id="31" name="Text 29"/>
              <p:cNvSpPr/>
              <p:nvPr/>
            </p:nvSpPr>
            <p:spPr>
              <a:xfrm>
                <a:off x="8453" y="5803"/>
                <a:ext cx="403" cy="17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3</a:t>
                </a:r>
                <a:endParaRPr lang="en-US" sz="900" dirty="0"/>
              </a:p>
            </p:txBody>
          </p:sp>
        </p:grpSp>
        <p:sp>
          <p:nvSpPr>
            <p:cNvPr id="32" name="Text 30"/>
            <p:cNvSpPr/>
            <p:nvPr/>
          </p:nvSpPr>
          <p:spPr>
            <a:xfrm>
              <a:off x="8971" y="5760"/>
              <a:ext cx="1426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130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抽取字段</a:t>
              </a:r>
              <a:endParaRPr lang="en-US" sz="16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8297" y="6338"/>
              <a:ext cx="2204" cy="1250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5D70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按字段语义自动识别信息</a:t>
              </a:r>
              <a:endParaRPr lang="en-US" sz="1400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7597775" y="3540125"/>
            <a:ext cx="1800860" cy="1689100"/>
            <a:chOff x="11736" y="5530"/>
            <a:chExt cx="2232" cy="2088"/>
          </a:xfrm>
        </p:grpSpPr>
        <p:sp>
          <p:nvSpPr>
            <p:cNvPr id="34" name="Shape 32"/>
            <p:cNvSpPr/>
            <p:nvPr/>
          </p:nvSpPr>
          <p:spPr>
            <a:xfrm>
              <a:off x="11736" y="5530"/>
              <a:ext cx="2232" cy="2088"/>
            </a:xfrm>
            <a:prstGeom prst="roundRect">
              <a:avLst>
                <a:gd name="adj" fmla="val 4138"/>
              </a:avLst>
            </a:prstGeom>
            <a:solidFill>
              <a:srgbClr val="FFFFFF"/>
            </a:solidFill>
            <a:ln w="12700">
              <a:solidFill>
                <a:srgbClr val="BFD4F2"/>
              </a:solidFill>
              <a:prstDash val="solid"/>
            </a:ln>
          </p:spPr>
        </p:sp>
        <p:grpSp>
          <p:nvGrpSpPr>
            <p:cNvPr id="53" name="组合 52"/>
            <p:cNvGrpSpPr/>
            <p:nvPr/>
          </p:nvGrpSpPr>
          <p:grpSpPr>
            <a:xfrm>
              <a:off x="11909" y="5688"/>
              <a:ext cx="402" cy="402"/>
              <a:chOff x="11909" y="5688"/>
              <a:chExt cx="402" cy="402"/>
            </a:xfrm>
          </p:grpSpPr>
          <p:sp>
            <p:nvSpPr>
              <p:cNvPr id="35" name="Shape 33"/>
              <p:cNvSpPr/>
              <p:nvPr/>
            </p:nvSpPr>
            <p:spPr>
              <a:xfrm>
                <a:off x="11909" y="5688"/>
                <a:ext cx="403" cy="403"/>
              </a:xfrm>
              <a:prstGeom prst="ellipse">
                <a:avLst/>
              </a:prstGeom>
              <a:solidFill>
                <a:srgbClr val="1F63FF"/>
              </a:solidFill>
              <a:ln w="12700">
                <a:solidFill>
                  <a:srgbClr val="1F63FF"/>
                </a:solidFill>
                <a:prstDash val="solid"/>
              </a:ln>
            </p:spPr>
          </p:sp>
          <p:sp>
            <p:nvSpPr>
              <p:cNvPr id="36" name="Text 34"/>
              <p:cNvSpPr/>
              <p:nvPr/>
            </p:nvSpPr>
            <p:spPr>
              <a:xfrm>
                <a:off x="11909" y="5789"/>
                <a:ext cx="403" cy="17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4</a:t>
                </a:r>
                <a:endParaRPr lang="en-US" sz="900" dirty="0"/>
              </a:p>
            </p:txBody>
          </p:sp>
        </p:grpSp>
        <p:sp>
          <p:nvSpPr>
            <p:cNvPr id="37" name="Text 35"/>
            <p:cNvSpPr/>
            <p:nvPr/>
          </p:nvSpPr>
          <p:spPr>
            <a:xfrm>
              <a:off x="12427" y="5746"/>
              <a:ext cx="1426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130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结果溯源</a:t>
              </a:r>
              <a:endParaRPr lang="en-US" sz="135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11736" y="6338"/>
              <a:ext cx="2203" cy="1237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5D70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保留来源证据与定位信息</a:t>
              </a:r>
              <a:endParaRPr lang="en-US" sz="1400" dirty="0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0134600" y="3464064"/>
            <a:ext cx="1833426" cy="1851353"/>
            <a:chOff x="15192" y="5294"/>
            <a:chExt cx="2246" cy="2280"/>
          </a:xfrm>
        </p:grpSpPr>
        <p:sp>
          <p:nvSpPr>
            <p:cNvPr id="39" name="Shape 37"/>
            <p:cNvSpPr/>
            <p:nvPr/>
          </p:nvSpPr>
          <p:spPr>
            <a:xfrm>
              <a:off x="15192" y="5294"/>
              <a:ext cx="2232" cy="2088"/>
            </a:xfrm>
            <a:prstGeom prst="roundRect">
              <a:avLst>
                <a:gd name="adj" fmla="val 4138"/>
              </a:avLst>
            </a:prstGeom>
            <a:solidFill>
              <a:srgbClr val="FFFFFF"/>
            </a:solidFill>
            <a:ln w="12700">
              <a:solidFill>
                <a:srgbClr val="BFD4F2"/>
              </a:solidFill>
              <a:prstDash val="solid"/>
            </a:ln>
          </p:spPr>
        </p:sp>
        <p:grpSp>
          <p:nvGrpSpPr>
            <p:cNvPr id="56" name="组合 55"/>
            <p:cNvGrpSpPr/>
            <p:nvPr/>
          </p:nvGrpSpPr>
          <p:grpSpPr>
            <a:xfrm>
              <a:off x="15365" y="5688"/>
              <a:ext cx="402" cy="402"/>
              <a:chOff x="15365" y="5688"/>
              <a:chExt cx="402" cy="402"/>
            </a:xfrm>
          </p:grpSpPr>
          <p:sp>
            <p:nvSpPr>
              <p:cNvPr id="40" name="Shape 38"/>
              <p:cNvSpPr/>
              <p:nvPr/>
            </p:nvSpPr>
            <p:spPr>
              <a:xfrm>
                <a:off x="15365" y="5688"/>
                <a:ext cx="403" cy="403"/>
              </a:xfrm>
              <a:prstGeom prst="ellipse">
                <a:avLst/>
              </a:prstGeom>
              <a:solidFill>
                <a:srgbClr val="1F63FF"/>
              </a:solidFill>
              <a:ln w="12700">
                <a:solidFill>
                  <a:srgbClr val="1F63FF"/>
                </a:solidFill>
                <a:prstDash val="solid"/>
              </a:ln>
            </p:spPr>
          </p:sp>
          <p:sp>
            <p:nvSpPr>
              <p:cNvPr id="41" name="Text 39"/>
              <p:cNvSpPr/>
              <p:nvPr/>
            </p:nvSpPr>
            <p:spPr>
              <a:xfrm>
                <a:off x="15365" y="5818"/>
                <a:ext cx="403" cy="17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5</a:t>
                </a:r>
                <a:endParaRPr lang="en-US" sz="900" dirty="0"/>
              </a:p>
            </p:txBody>
          </p:sp>
        </p:grpSp>
        <p:sp>
          <p:nvSpPr>
            <p:cNvPr id="42" name="Text 40"/>
            <p:cNvSpPr/>
            <p:nvPr/>
          </p:nvSpPr>
          <p:spPr>
            <a:xfrm>
              <a:off x="15883" y="5760"/>
              <a:ext cx="1426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130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导出表格</a:t>
              </a:r>
              <a:endParaRPr lang="en-US" sz="16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15207" y="6338"/>
              <a:ext cx="2231" cy="1236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5D708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形成可直接使用的结构化结果</a:t>
              </a:r>
              <a:endParaRPr lang="en-US" sz="1400" dirty="0"/>
            </a:p>
          </p:txBody>
        </p:sp>
      </p:grpSp>
      <p:sp>
        <p:nvSpPr>
          <p:cNvPr id="146" name="任意多边形 24"/>
          <p:cNvSpPr/>
          <p:nvPr>
            <p:custDataLst>
              <p:tags r:id="rId1"/>
            </p:custDataLst>
          </p:nvPr>
        </p:nvSpPr>
        <p:spPr bwMode="auto">
          <a:xfrm rot="5400000">
            <a:off x="1593850" y="4123690"/>
            <a:ext cx="1331595" cy="636905"/>
          </a:xfrm>
          <a:custGeom>
            <a:avLst/>
            <a:gdLst>
              <a:gd name="connsiteX0" fmla="*/ 2836201 w 2836201"/>
              <a:gd name="connsiteY0" fmla="*/ 3789428 h 3789428"/>
              <a:gd name="connsiteX1" fmla="*/ 2711787 w 2836201"/>
              <a:gd name="connsiteY1" fmla="*/ 3682142 h 3789428"/>
              <a:gd name="connsiteX2" fmla="*/ 1888961 w 2836201"/>
              <a:gd name="connsiteY2" fmla="*/ 1207373 h 3789428"/>
              <a:gd name="connsiteX3" fmla="*/ 1897078 w 2836201"/>
              <a:gd name="connsiteY3" fmla="*/ 919610 h 3789428"/>
              <a:gd name="connsiteX4" fmla="*/ 1902386 w 2836201"/>
              <a:gd name="connsiteY4" fmla="*/ 857358 h 3789428"/>
              <a:gd name="connsiteX5" fmla="*/ 2275459 w 2836201"/>
              <a:gd name="connsiteY5" fmla="*/ 857358 h 3789428"/>
              <a:gd name="connsiteX6" fmla="*/ 1418101 w 2836201"/>
              <a:gd name="connsiteY6" fmla="*/ 0 h 3789428"/>
              <a:gd name="connsiteX7" fmla="*/ 560743 w 2836201"/>
              <a:gd name="connsiteY7" fmla="*/ 857358 h 3789428"/>
              <a:gd name="connsiteX8" fmla="*/ 933815 w 2836201"/>
              <a:gd name="connsiteY8" fmla="*/ 857358 h 3789428"/>
              <a:gd name="connsiteX9" fmla="*/ 939123 w 2836201"/>
              <a:gd name="connsiteY9" fmla="*/ 919610 h 3789428"/>
              <a:gd name="connsiteX10" fmla="*/ 947240 w 2836201"/>
              <a:gd name="connsiteY10" fmla="*/ 1207373 h 3789428"/>
              <a:gd name="connsiteX11" fmla="*/ 124414 w 2836201"/>
              <a:gd name="connsiteY11" fmla="*/ 3682142 h 3789428"/>
              <a:gd name="connsiteX12" fmla="*/ 0 w 2836201"/>
              <a:gd name="connsiteY12" fmla="*/ 3789428 h 3789428"/>
              <a:gd name="connsiteX13" fmla="*/ 56160 w 2836201"/>
              <a:gd name="connsiteY13" fmla="*/ 3789428 h 3789428"/>
              <a:gd name="connsiteX14" fmla="*/ 2780041 w 2836201"/>
              <a:gd name="connsiteY14" fmla="*/ 3789428 h 3789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36201" h="3789428">
                <a:moveTo>
                  <a:pt x="2836201" y="3789428"/>
                </a:moveTo>
                <a:lnTo>
                  <a:pt x="2711787" y="3682142"/>
                </a:lnTo>
                <a:cubicBezTo>
                  <a:pt x="2221675" y="3205543"/>
                  <a:pt x="1888961" y="2276012"/>
                  <a:pt x="1888961" y="1207373"/>
                </a:cubicBezTo>
                <a:cubicBezTo>
                  <a:pt x="1888961" y="1110224"/>
                  <a:pt x="1891711" y="1014224"/>
                  <a:pt x="1897078" y="919610"/>
                </a:cubicBezTo>
                <a:lnTo>
                  <a:pt x="1902386" y="857358"/>
                </a:lnTo>
                <a:lnTo>
                  <a:pt x="2275459" y="857358"/>
                </a:lnTo>
                <a:lnTo>
                  <a:pt x="1418101" y="0"/>
                </a:lnTo>
                <a:lnTo>
                  <a:pt x="560743" y="857358"/>
                </a:lnTo>
                <a:lnTo>
                  <a:pt x="933815" y="857358"/>
                </a:lnTo>
                <a:lnTo>
                  <a:pt x="939123" y="919610"/>
                </a:lnTo>
                <a:cubicBezTo>
                  <a:pt x="944490" y="1014224"/>
                  <a:pt x="947240" y="1110224"/>
                  <a:pt x="947240" y="1207373"/>
                </a:cubicBezTo>
                <a:cubicBezTo>
                  <a:pt x="947240" y="2276012"/>
                  <a:pt x="614527" y="3205543"/>
                  <a:pt x="124414" y="3682142"/>
                </a:cubicBezTo>
                <a:lnTo>
                  <a:pt x="0" y="3789428"/>
                </a:lnTo>
                <a:lnTo>
                  <a:pt x="56160" y="3789428"/>
                </a:lnTo>
                <a:lnTo>
                  <a:pt x="2780041" y="3789428"/>
                </a:lnTo>
                <a:close/>
              </a:path>
            </a:pathLst>
          </a:custGeom>
          <a:gradFill flip="none" rotWithShape="1">
            <a:gsLst>
              <a:gs pos="73000">
                <a:schemeClr val="accent1">
                  <a:alpha val="0"/>
                </a:schemeClr>
              </a:gs>
              <a:gs pos="0">
                <a:schemeClr val="accent2">
                  <a:alpha val="9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marL="0" marR="0" lvl="0" indent="0" algn="ctr" defTabSz="11518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58" name="任意多边形 24"/>
          <p:cNvSpPr/>
          <p:nvPr>
            <p:custDataLst>
              <p:tags r:id="rId2"/>
            </p:custDataLst>
          </p:nvPr>
        </p:nvSpPr>
        <p:spPr bwMode="auto">
          <a:xfrm rot="5400000">
            <a:off x="4025900" y="4168140"/>
            <a:ext cx="1331595" cy="666750"/>
          </a:xfrm>
          <a:custGeom>
            <a:avLst/>
            <a:gdLst>
              <a:gd name="connsiteX0" fmla="*/ 2836201 w 2836201"/>
              <a:gd name="connsiteY0" fmla="*/ 3789428 h 3789428"/>
              <a:gd name="connsiteX1" fmla="*/ 2711787 w 2836201"/>
              <a:gd name="connsiteY1" fmla="*/ 3682142 h 3789428"/>
              <a:gd name="connsiteX2" fmla="*/ 1888961 w 2836201"/>
              <a:gd name="connsiteY2" fmla="*/ 1207373 h 3789428"/>
              <a:gd name="connsiteX3" fmla="*/ 1897078 w 2836201"/>
              <a:gd name="connsiteY3" fmla="*/ 919610 h 3789428"/>
              <a:gd name="connsiteX4" fmla="*/ 1902386 w 2836201"/>
              <a:gd name="connsiteY4" fmla="*/ 857358 h 3789428"/>
              <a:gd name="connsiteX5" fmla="*/ 2275459 w 2836201"/>
              <a:gd name="connsiteY5" fmla="*/ 857358 h 3789428"/>
              <a:gd name="connsiteX6" fmla="*/ 1418101 w 2836201"/>
              <a:gd name="connsiteY6" fmla="*/ 0 h 3789428"/>
              <a:gd name="connsiteX7" fmla="*/ 560743 w 2836201"/>
              <a:gd name="connsiteY7" fmla="*/ 857358 h 3789428"/>
              <a:gd name="connsiteX8" fmla="*/ 933815 w 2836201"/>
              <a:gd name="connsiteY8" fmla="*/ 857358 h 3789428"/>
              <a:gd name="connsiteX9" fmla="*/ 939123 w 2836201"/>
              <a:gd name="connsiteY9" fmla="*/ 919610 h 3789428"/>
              <a:gd name="connsiteX10" fmla="*/ 947240 w 2836201"/>
              <a:gd name="connsiteY10" fmla="*/ 1207373 h 3789428"/>
              <a:gd name="connsiteX11" fmla="*/ 124414 w 2836201"/>
              <a:gd name="connsiteY11" fmla="*/ 3682142 h 3789428"/>
              <a:gd name="connsiteX12" fmla="*/ 0 w 2836201"/>
              <a:gd name="connsiteY12" fmla="*/ 3789428 h 3789428"/>
              <a:gd name="connsiteX13" fmla="*/ 56160 w 2836201"/>
              <a:gd name="connsiteY13" fmla="*/ 3789428 h 3789428"/>
              <a:gd name="connsiteX14" fmla="*/ 2780041 w 2836201"/>
              <a:gd name="connsiteY14" fmla="*/ 3789428 h 3789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36201" h="3789428">
                <a:moveTo>
                  <a:pt x="2836201" y="3789428"/>
                </a:moveTo>
                <a:lnTo>
                  <a:pt x="2711787" y="3682142"/>
                </a:lnTo>
                <a:cubicBezTo>
                  <a:pt x="2221675" y="3205543"/>
                  <a:pt x="1888961" y="2276012"/>
                  <a:pt x="1888961" y="1207373"/>
                </a:cubicBezTo>
                <a:cubicBezTo>
                  <a:pt x="1888961" y="1110224"/>
                  <a:pt x="1891711" y="1014224"/>
                  <a:pt x="1897078" y="919610"/>
                </a:cubicBezTo>
                <a:lnTo>
                  <a:pt x="1902386" y="857358"/>
                </a:lnTo>
                <a:lnTo>
                  <a:pt x="2275459" y="857358"/>
                </a:lnTo>
                <a:lnTo>
                  <a:pt x="1418101" y="0"/>
                </a:lnTo>
                <a:lnTo>
                  <a:pt x="560743" y="857358"/>
                </a:lnTo>
                <a:lnTo>
                  <a:pt x="933815" y="857358"/>
                </a:lnTo>
                <a:lnTo>
                  <a:pt x="939123" y="919610"/>
                </a:lnTo>
                <a:cubicBezTo>
                  <a:pt x="944490" y="1014224"/>
                  <a:pt x="947240" y="1110224"/>
                  <a:pt x="947240" y="1207373"/>
                </a:cubicBezTo>
                <a:cubicBezTo>
                  <a:pt x="947240" y="2276012"/>
                  <a:pt x="614527" y="3205543"/>
                  <a:pt x="124414" y="3682142"/>
                </a:cubicBezTo>
                <a:lnTo>
                  <a:pt x="0" y="3789428"/>
                </a:lnTo>
                <a:lnTo>
                  <a:pt x="56160" y="3789428"/>
                </a:lnTo>
                <a:lnTo>
                  <a:pt x="2780041" y="3789428"/>
                </a:lnTo>
                <a:close/>
              </a:path>
            </a:pathLst>
          </a:custGeom>
          <a:gradFill flip="none" rotWithShape="1">
            <a:gsLst>
              <a:gs pos="73000">
                <a:schemeClr val="accent1">
                  <a:alpha val="0"/>
                </a:schemeClr>
              </a:gs>
              <a:gs pos="0">
                <a:schemeClr val="accent2">
                  <a:alpha val="9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marL="0" marR="0" lvl="0" indent="0" algn="ctr" defTabSz="11518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60" name="任意多边形 24"/>
          <p:cNvSpPr/>
          <p:nvPr>
            <p:custDataLst>
              <p:tags r:id="rId3"/>
            </p:custDataLst>
          </p:nvPr>
        </p:nvSpPr>
        <p:spPr bwMode="auto">
          <a:xfrm rot="5400000">
            <a:off x="9107805" y="4089400"/>
            <a:ext cx="1331595" cy="720090"/>
          </a:xfrm>
          <a:custGeom>
            <a:avLst/>
            <a:gdLst>
              <a:gd name="connsiteX0" fmla="*/ 2836201 w 2836201"/>
              <a:gd name="connsiteY0" fmla="*/ 3789428 h 3789428"/>
              <a:gd name="connsiteX1" fmla="*/ 2711787 w 2836201"/>
              <a:gd name="connsiteY1" fmla="*/ 3682142 h 3789428"/>
              <a:gd name="connsiteX2" fmla="*/ 1888961 w 2836201"/>
              <a:gd name="connsiteY2" fmla="*/ 1207373 h 3789428"/>
              <a:gd name="connsiteX3" fmla="*/ 1897078 w 2836201"/>
              <a:gd name="connsiteY3" fmla="*/ 919610 h 3789428"/>
              <a:gd name="connsiteX4" fmla="*/ 1902386 w 2836201"/>
              <a:gd name="connsiteY4" fmla="*/ 857358 h 3789428"/>
              <a:gd name="connsiteX5" fmla="*/ 2275459 w 2836201"/>
              <a:gd name="connsiteY5" fmla="*/ 857358 h 3789428"/>
              <a:gd name="connsiteX6" fmla="*/ 1418101 w 2836201"/>
              <a:gd name="connsiteY6" fmla="*/ 0 h 3789428"/>
              <a:gd name="connsiteX7" fmla="*/ 560743 w 2836201"/>
              <a:gd name="connsiteY7" fmla="*/ 857358 h 3789428"/>
              <a:gd name="connsiteX8" fmla="*/ 933815 w 2836201"/>
              <a:gd name="connsiteY8" fmla="*/ 857358 h 3789428"/>
              <a:gd name="connsiteX9" fmla="*/ 939123 w 2836201"/>
              <a:gd name="connsiteY9" fmla="*/ 919610 h 3789428"/>
              <a:gd name="connsiteX10" fmla="*/ 947240 w 2836201"/>
              <a:gd name="connsiteY10" fmla="*/ 1207373 h 3789428"/>
              <a:gd name="connsiteX11" fmla="*/ 124414 w 2836201"/>
              <a:gd name="connsiteY11" fmla="*/ 3682142 h 3789428"/>
              <a:gd name="connsiteX12" fmla="*/ 0 w 2836201"/>
              <a:gd name="connsiteY12" fmla="*/ 3789428 h 3789428"/>
              <a:gd name="connsiteX13" fmla="*/ 56160 w 2836201"/>
              <a:gd name="connsiteY13" fmla="*/ 3789428 h 3789428"/>
              <a:gd name="connsiteX14" fmla="*/ 2780041 w 2836201"/>
              <a:gd name="connsiteY14" fmla="*/ 3789428 h 3789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36201" h="3789428">
                <a:moveTo>
                  <a:pt x="2836201" y="3789428"/>
                </a:moveTo>
                <a:lnTo>
                  <a:pt x="2711787" y="3682142"/>
                </a:lnTo>
                <a:cubicBezTo>
                  <a:pt x="2221675" y="3205543"/>
                  <a:pt x="1888961" y="2276012"/>
                  <a:pt x="1888961" y="1207373"/>
                </a:cubicBezTo>
                <a:cubicBezTo>
                  <a:pt x="1888961" y="1110224"/>
                  <a:pt x="1891711" y="1014224"/>
                  <a:pt x="1897078" y="919610"/>
                </a:cubicBezTo>
                <a:lnTo>
                  <a:pt x="1902386" y="857358"/>
                </a:lnTo>
                <a:lnTo>
                  <a:pt x="2275459" y="857358"/>
                </a:lnTo>
                <a:lnTo>
                  <a:pt x="1418101" y="0"/>
                </a:lnTo>
                <a:lnTo>
                  <a:pt x="560743" y="857358"/>
                </a:lnTo>
                <a:lnTo>
                  <a:pt x="933815" y="857358"/>
                </a:lnTo>
                <a:lnTo>
                  <a:pt x="939123" y="919610"/>
                </a:lnTo>
                <a:cubicBezTo>
                  <a:pt x="944490" y="1014224"/>
                  <a:pt x="947240" y="1110224"/>
                  <a:pt x="947240" y="1207373"/>
                </a:cubicBezTo>
                <a:cubicBezTo>
                  <a:pt x="947240" y="2276012"/>
                  <a:pt x="614527" y="3205543"/>
                  <a:pt x="124414" y="3682142"/>
                </a:cubicBezTo>
                <a:lnTo>
                  <a:pt x="0" y="3789428"/>
                </a:lnTo>
                <a:lnTo>
                  <a:pt x="56160" y="3789428"/>
                </a:lnTo>
                <a:lnTo>
                  <a:pt x="2780041" y="3789428"/>
                </a:lnTo>
                <a:close/>
              </a:path>
            </a:pathLst>
          </a:custGeom>
          <a:gradFill flip="none" rotWithShape="1">
            <a:gsLst>
              <a:gs pos="73000">
                <a:schemeClr val="accent1">
                  <a:alpha val="0"/>
                </a:schemeClr>
              </a:gs>
              <a:gs pos="0">
                <a:schemeClr val="accent2">
                  <a:alpha val="9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marL="0" marR="0" lvl="0" indent="0" algn="ctr" defTabSz="11518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61" name="任意多边形 24"/>
          <p:cNvSpPr/>
          <p:nvPr>
            <p:custDataLst>
              <p:tags r:id="rId4"/>
            </p:custDataLst>
          </p:nvPr>
        </p:nvSpPr>
        <p:spPr bwMode="auto">
          <a:xfrm rot="5400000">
            <a:off x="6539230" y="4146550"/>
            <a:ext cx="1331595" cy="786765"/>
          </a:xfrm>
          <a:custGeom>
            <a:avLst/>
            <a:gdLst>
              <a:gd name="connsiteX0" fmla="*/ 2836201 w 2836201"/>
              <a:gd name="connsiteY0" fmla="*/ 3789428 h 3789428"/>
              <a:gd name="connsiteX1" fmla="*/ 2711787 w 2836201"/>
              <a:gd name="connsiteY1" fmla="*/ 3682142 h 3789428"/>
              <a:gd name="connsiteX2" fmla="*/ 1888961 w 2836201"/>
              <a:gd name="connsiteY2" fmla="*/ 1207373 h 3789428"/>
              <a:gd name="connsiteX3" fmla="*/ 1897078 w 2836201"/>
              <a:gd name="connsiteY3" fmla="*/ 919610 h 3789428"/>
              <a:gd name="connsiteX4" fmla="*/ 1902386 w 2836201"/>
              <a:gd name="connsiteY4" fmla="*/ 857358 h 3789428"/>
              <a:gd name="connsiteX5" fmla="*/ 2275459 w 2836201"/>
              <a:gd name="connsiteY5" fmla="*/ 857358 h 3789428"/>
              <a:gd name="connsiteX6" fmla="*/ 1418101 w 2836201"/>
              <a:gd name="connsiteY6" fmla="*/ 0 h 3789428"/>
              <a:gd name="connsiteX7" fmla="*/ 560743 w 2836201"/>
              <a:gd name="connsiteY7" fmla="*/ 857358 h 3789428"/>
              <a:gd name="connsiteX8" fmla="*/ 933815 w 2836201"/>
              <a:gd name="connsiteY8" fmla="*/ 857358 h 3789428"/>
              <a:gd name="connsiteX9" fmla="*/ 939123 w 2836201"/>
              <a:gd name="connsiteY9" fmla="*/ 919610 h 3789428"/>
              <a:gd name="connsiteX10" fmla="*/ 947240 w 2836201"/>
              <a:gd name="connsiteY10" fmla="*/ 1207373 h 3789428"/>
              <a:gd name="connsiteX11" fmla="*/ 124414 w 2836201"/>
              <a:gd name="connsiteY11" fmla="*/ 3682142 h 3789428"/>
              <a:gd name="connsiteX12" fmla="*/ 0 w 2836201"/>
              <a:gd name="connsiteY12" fmla="*/ 3789428 h 3789428"/>
              <a:gd name="connsiteX13" fmla="*/ 56160 w 2836201"/>
              <a:gd name="connsiteY13" fmla="*/ 3789428 h 3789428"/>
              <a:gd name="connsiteX14" fmla="*/ 2780041 w 2836201"/>
              <a:gd name="connsiteY14" fmla="*/ 3789428 h 3789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36201" h="3789428">
                <a:moveTo>
                  <a:pt x="2836201" y="3789428"/>
                </a:moveTo>
                <a:lnTo>
                  <a:pt x="2711787" y="3682142"/>
                </a:lnTo>
                <a:cubicBezTo>
                  <a:pt x="2221675" y="3205543"/>
                  <a:pt x="1888961" y="2276012"/>
                  <a:pt x="1888961" y="1207373"/>
                </a:cubicBezTo>
                <a:cubicBezTo>
                  <a:pt x="1888961" y="1110224"/>
                  <a:pt x="1891711" y="1014224"/>
                  <a:pt x="1897078" y="919610"/>
                </a:cubicBezTo>
                <a:lnTo>
                  <a:pt x="1902386" y="857358"/>
                </a:lnTo>
                <a:lnTo>
                  <a:pt x="2275459" y="857358"/>
                </a:lnTo>
                <a:lnTo>
                  <a:pt x="1418101" y="0"/>
                </a:lnTo>
                <a:lnTo>
                  <a:pt x="560743" y="857358"/>
                </a:lnTo>
                <a:lnTo>
                  <a:pt x="933815" y="857358"/>
                </a:lnTo>
                <a:lnTo>
                  <a:pt x="939123" y="919610"/>
                </a:lnTo>
                <a:cubicBezTo>
                  <a:pt x="944490" y="1014224"/>
                  <a:pt x="947240" y="1110224"/>
                  <a:pt x="947240" y="1207373"/>
                </a:cubicBezTo>
                <a:cubicBezTo>
                  <a:pt x="947240" y="2276012"/>
                  <a:pt x="614527" y="3205543"/>
                  <a:pt x="124414" y="3682142"/>
                </a:cubicBezTo>
                <a:lnTo>
                  <a:pt x="0" y="3789428"/>
                </a:lnTo>
                <a:lnTo>
                  <a:pt x="56160" y="3789428"/>
                </a:lnTo>
                <a:lnTo>
                  <a:pt x="2780041" y="3789428"/>
                </a:lnTo>
                <a:close/>
              </a:path>
            </a:pathLst>
          </a:custGeom>
          <a:gradFill flip="none" rotWithShape="1">
            <a:gsLst>
              <a:gs pos="73000">
                <a:schemeClr val="accent1">
                  <a:alpha val="0"/>
                </a:schemeClr>
              </a:gs>
              <a:gs pos="0">
                <a:schemeClr val="accent2">
                  <a:alpha val="9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marL="0" marR="0" lvl="0" indent="0" algn="ctr" defTabSz="11518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155448"/>
            <a:ext cx="2011680" cy="73152"/>
          </a:xfrm>
          <a:prstGeom prst="rect">
            <a:avLst/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126480"/>
            <a:ext cx="11064240" cy="0"/>
          </a:xfrm>
          <a:prstGeom prst="line">
            <a:avLst/>
          </a:prstGeom>
          <a:noFill/>
          <a:ln w="12700">
            <a:solidFill>
              <a:srgbClr val="BF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411480"/>
            <a:ext cx="256032" cy="256032"/>
          </a:xfrm>
          <a:prstGeom prst="ellipse">
            <a:avLst/>
          </a:prstGeom>
          <a:solidFill>
            <a:srgbClr val="DCEBFF">
              <a:alpha val="85000"/>
            </a:srgbClr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2256" y="347472"/>
            <a:ext cx="137160" cy="137160"/>
          </a:xfrm>
          <a:prstGeom prst="ellipse">
            <a:avLst/>
          </a:prstGeom>
          <a:solidFill>
            <a:srgbClr val="92F0FF">
              <a:alpha val="90000"/>
            </a:srgbClr>
          </a:solidFill>
          <a:ln w="12700">
            <a:solidFill>
              <a:srgbClr val="92F0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调研过程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3232" y="937260"/>
            <a:ext cx="7306056" cy="32003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开发前先回答三个问题：用户到底需要什么、技术怎样落地、现有方案哪里不足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/ 调研与需求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6336792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调研不是附加步骤，而是确定系统方向的前置工程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54480" y="3337560"/>
            <a:ext cx="8961120" cy="0"/>
          </a:xfrm>
          <a:prstGeom prst="line">
            <a:avLst/>
          </a:prstGeom>
          <a:noFill/>
          <a:ln w="12700">
            <a:solidFill>
              <a:srgbClr val="9EBCE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965960" y="3017520"/>
            <a:ext cx="347472" cy="347472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1709927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EEF5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185623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22120" y="2185414"/>
            <a:ext cx="2103120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用户需求调研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43000" y="365760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25880" y="382219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用户需求调研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169664"/>
            <a:ext cx="2203704" cy="10332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梳理填写表格、查找资料、复核来源等真实使用环节，识别最痛的高频操作。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94960" y="3017520"/>
            <a:ext cx="347472" cy="347472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69164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EEF5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85623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57800" y="2185414"/>
            <a:ext cx="2103120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技术路线调研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0" y="365760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382219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技术路线调研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54880" y="4169664"/>
            <a:ext cx="2103120" cy="10332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比较规则、LLM 与混合方案，评估准确率、稳定性、解释性与工程复杂度。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823960" y="3017520"/>
            <a:ext cx="347472" cy="347472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01000" y="169164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EEF5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185623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66760" y="2176272"/>
            <a:ext cx="2103120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竞品与现有方案调研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01000" y="365760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183880" y="382219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竞品与现有方案调研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83880" y="4169664"/>
            <a:ext cx="2103120" cy="10332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分析现有抽取工具在固定模板、开放表头、多格式兼容方面的能力边界。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155448"/>
            <a:ext cx="2011680" cy="73152"/>
          </a:xfrm>
          <a:prstGeom prst="rect">
            <a:avLst/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3880" y="6199632"/>
            <a:ext cx="11064240" cy="0"/>
          </a:xfrm>
          <a:prstGeom prst="line">
            <a:avLst/>
          </a:prstGeom>
          <a:noFill/>
          <a:ln w="12700">
            <a:solidFill>
              <a:srgbClr val="BF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411480"/>
            <a:ext cx="256032" cy="256032"/>
          </a:xfrm>
          <a:prstGeom prst="ellipse">
            <a:avLst/>
          </a:prstGeom>
          <a:solidFill>
            <a:srgbClr val="DCEBFF">
              <a:alpha val="85000"/>
            </a:srgbClr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2256" y="347472"/>
            <a:ext cx="137160" cy="137160"/>
          </a:xfrm>
          <a:prstGeom prst="ellipse">
            <a:avLst/>
          </a:prstGeom>
          <a:solidFill>
            <a:srgbClr val="92F0FF">
              <a:alpha val="90000"/>
            </a:srgbClr>
          </a:solidFill>
          <a:ln w="12700">
            <a:solidFill>
              <a:srgbClr val="92F0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需求调研结论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932688"/>
            <a:ext cx="6281928" cy="21945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用户希望系统不仅“能抽取”，还要“能自定义、能回查、能导出”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/ 调研与需求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6419088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最终需求重点集中在“灵活配置 + 稳定输出 + 可解释结果”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1371600"/>
            <a:ext cx="4754880" cy="42153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1527048"/>
            <a:ext cx="43891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高频关注能力</a:t>
            </a:r>
            <a:endParaRPr lang="en-US" sz="1600" b="1" dirty="0">
              <a:solidFill>
                <a:srgbClr val="11304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4458" y="1984246"/>
            <a:ext cx="4389120" cy="3867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70178" y="2048254"/>
            <a:ext cx="100584" cy="100584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4770" y="1975102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支持多种文档格式，避免格式一变就无法处理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970178" y="2660902"/>
            <a:ext cx="100584" cy="100584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4770" y="2587750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支持批量上传，减少逐文件重复操作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970178" y="3273550"/>
            <a:ext cx="100584" cy="100584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4770" y="3200398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能自定义表头，不希望被固定模板锁死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970178" y="3886198"/>
            <a:ext cx="100584" cy="100584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4770" y="3813046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抽取结果可回查原文，便于复核与追责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970178" y="4498846"/>
            <a:ext cx="100584" cy="100584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34770" y="4425694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结果最好一键导出，能直接进入后续业务流程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5715000" y="1371600"/>
            <a:ext cx="5577840" cy="42153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572769"/>
            <a:ext cx="5212080" cy="43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需求优先级（调研归纳</a:t>
            </a:r>
            <a:r>
              <a:rPr lang="en-US" sz="1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</a:t>
            </a:r>
            <a:endParaRPr lang="en-US" sz="1600" b="1" dirty="0">
              <a:solidFill>
                <a:srgbClr val="11304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97880" y="1883664"/>
            <a:ext cx="5212080" cy="3867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035040" y="2048257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304F"/>
                </a:solidFill>
              </a:rPr>
              <a:t>多格式兼容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406640" y="2075689"/>
            <a:ext cx="3246120" cy="164592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06640" y="2075689"/>
            <a:ext cx="3083814" cy="164592"/>
          </a:xfrm>
          <a:prstGeom prst="roundRect">
            <a:avLst>
              <a:gd name="adj" fmla="val 16667"/>
            </a:avLst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44200" y="2048257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F63FF"/>
                </a:solidFill>
              </a:rPr>
              <a:t>95%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035040" y="2670049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304F"/>
                </a:solidFill>
              </a:rPr>
              <a:t>自定义表头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406640" y="2697481"/>
            <a:ext cx="3246120" cy="164592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06640" y="2697481"/>
            <a:ext cx="2986430" cy="164592"/>
          </a:xfrm>
          <a:prstGeom prst="roundRect">
            <a:avLst>
              <a:gd name="adj" fmla="val 16667"/>
            </a:avLst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44200" y="2670049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F63FF"/>
                </a:solidFill>
              </a:rPr>
              <a:t>92%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035040" y="3291841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304F"/>
                </a:solidFill>
              </a:rPr>
              <a:t>结果溯源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7406640" y="3319273"/>
            <a:ext cx="3246120" cy="164592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06640" y="3319273"/>
            <a:ext cx="2921508" cy="164592"/>
          </a:xfrm>
          <a:prstGeom prst="roundRect">
            <a:avLst>
              <a:gd name="adj" fmla="val 16667"/>
            </a:avLst>
          </a:prstGeom>
          <a:solidFill>
            <a:srgbClr val="63A4FF"/>
          </a:solidFill>
          <a:ln w="12700">
            <a:solidFill>
              <a:srgbClr val="63A4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44200" y="3291841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F63FF"/>
                </a:solidFill>
              </a:rPr>
              <a:t>90%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035040" y="3913633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304F"/>
                </a:solidFill>
              </a:rPr>
              <a:t>批量上传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7406640" y="3941065"/>
            <a:ext cx="3246120" cy="164592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06640" y="3941065"/>
            <a:ext cx="2759202" cy="164592"/>
          </a:xfrm>
          <a:prstGeom prst="roundRect">
            <a:avLst>
              <a:gd name="adj" fmla="val 16667"/>
            </a:avLst>
          </a:prstGeom>
          <a:solidFill>
            <a:srgbClr val="63A4FF"/>
          </a:solidFill>
          <a:ln w="12700">
            <a:solidFill>
              <a:srgbClr val="63A4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744200" y="3913633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F63FF"/>
                </a:solidFill>
              </a:rPr>
              <a:t>85%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035040" y="4535425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304F"/>
                </a:solidFill>
              </a:rPr>
              <a:t>导出能力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7406640" y="4562857"/>
            <a:ext cx="3246120" cy="164592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06640" y="4562857"/>
            <a:ext cx="2661818" cy="164592"/>
          </a:xfrm>
          <a:prstGeom prst="roundRect">
            <a:avLst>
              <a:gd name="adj" fmla="val 16667"/>
            </a:avLst>
          </a:prstGeom>
          <a:solidFill>
            <a:srgbClr val="63A4FF"/>
          </a:solidFill>
          <a:ln w="12700">
            <a:solidFill>
              <a:srgbClr val="63A4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744200" y="4535425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F63FF"/>
                </a:solidFill>
              </a:rPr>
              <a:t>82%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155448"/>
            <a:ext cx="2011680" cy="73152"/>
          </a:xfrm>
          <a:prstGeom prst="rect">
            <a:avLst/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181344"/>
            <a:ext cx="11064240" cy="0"/>
          </a:xfrm>
          <a:prstGeom prst="line">
            <a:avLst/>
          </a:prstGeom>
          <a:noFill/>
          <a:ln w="12700">
            <a:solidFill>
              <a:srgbClr val="BF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411480"/>
            <a:ext cx="256032" cy="256032"/>
          </a:xfrm>
          <a:prstGeom prst="ellipse">
            <a:avLst/>
          </a:prstGeom>
          <a:solidFill>
            <a:srgbClr val="DCEBFF">
              <a:alpha val="85000"/>
            </a:srgbClr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2256" y="347472"/>
            <a:ext cx="137160" cy="137160"/>
          </a:xfrm>
          <a:prstGeom prst="ellipse">
            <a:avLst/>
          </a:prstGeom>
          <a:solidFill>
            <a:srgbClr val="92F0FF">
              <a:alpha val="90000"/>
            </a:srgbClr>
          </a:solidFill>
          <a:ln w="12700">
            <a:solidFill>
              <a:srgbClr val="92F0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技术路线选择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877824"/>
            <a:ext cx="7461504" cy="38404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经过对比，我们最终选择“LLM + 规则校验 + 语义匹配 + 溯源”的混合式方案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/ 调研与需求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6355080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既要智能，也要稳定；既要灵活，也要可信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1645920"/>
            <a:ext cx="3063240" cy="30175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1810512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规则抽取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1860" y="2533650"/>
            <a:ext cx="2697480" cy="1908175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优势：速度快、成本较低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短板：格式一变就脆弱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结论：适合固定模板，不适合开放文档</a:t>
            </a:r>
            <a:endParaRPr lang="en-US" sz="20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42232" y="1645920"/>
            <a:ext cx="3063240" cy="30175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25112" y="1810512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纯大模型抽取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57370" y="2387600"/>
            <a:ext cx="2697480" cy="226187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优势：语义理解灵活、适应性强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短板：结果波动、难控格式、可解释性不足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结论：适合开放理解，但工程约束不足</a:t>
            </a:r>
            <a:endParaRPr lang="en-US" sz="20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571232" y="1645920"/>
            <a:ext cx="3063240" cy="3017520"/>
          </a:xfrm>
          <a:prstGeom prst="roundRect">
            <a:avLst>
              <a:gd name="adj" fmla="val 2388"/>
            </a:avLst>
          </a:prstGeom>
          <a:solidFill>
            <a:srgbClr val="EFF5FF"/>
          </a:solidFill>
          <a:ln w="12700">
            <a:solidFill>
              <a:srgbClr val="1F63FF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03920" y="1428750"/>
            <a:ext cx="1097280" cy="434340"/>
          </a:xfrm>
          <a:prstGeom prst="roundRect">
            <a:avLst>
              <a:gd name="adj" fmla="val 17857"/>
            </a:avLst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9640" y="1572768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最终选择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54112" y="210312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混合式方案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38110" y="2897505"/>
            <a:ext cx="2697480" cy="1392555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优势：灵活理解 + 规则校验 + 结果溯源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短板：设计复杂度更高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结论：更适合真实填报</a:t>
            </a:r>
            <a:endParaRPr lang="en-US" sz="20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13232" y="5248656"/>
            <a:ext cx="10241280" cy="566928"/>
          </a:xfrm>
          <a:prstGeom prst="roundRect">
            <a:avLst>
              <a:gd name="adj" fmla="val 12903"/>
            </a:avLst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5404103"/>
            <a:ext cx="1106424" cy="283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选择理由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984248" y="5468112"/>
            <a:ext cx="8778240" cy="1691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混合式方案既保留大模型对开放表达的理解能力，又通过规则、匹配与溯源机制提升结果稳定性和可信度。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155448"/>
            <a:ext cx="2011680" cy="73152"/>
          </a:xfrm>
          <a:prstGeom prst="rect">
            <a:avLst/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163056"/>
            <a:ext cx="11064240" cy="0"/>
          </a:xfrm>
          <a:prstGeom prst="line">
            <a:avLst/>
          </a:prstGeom>
          <a:noFill/>
          <a:ln w="12700">
            <a:solidFill>
              <a:srgbClr val="BF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411480"/>
            <a:ext cx="256032" cy="256032"/>
          </a:xfrm>
          <a:prstGeom prst="ellipse">
            <a:avLst/>
          </a:prstGeom>
          <a:solidFill>
            <a:srgbClr val="DCEBFF">
              <a:alpha val="85000"/>
            </a:srgbClr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2256" y="347472"/>
            <a:ext cx="137160" cy="137160"/>
          </a:xfrm>
          <a:prstGeom prst="ellipse">
            <a:avLst/>
          </a:prstGeom>
          <a:solidFill>
            <a:srgbClr val="92F0FF">
              <a:alpha val="90000"/>
            </a:srgbClr>
          </a:solidFill>
          <a:ln w="12700">
            <a:solidFill>
              <a:srgbClr val="92F0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系统总体架构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3796" y="996696"/>
            <a:ext cx="7050024" cy="2468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前端负责配置与展示，后端负责处理流水线，数据库负责任务与结果持久化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/ 方案与架构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6336792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系统不是单页 Demo，而是具备完整工程链路的可运行原型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88920" y="2459736"/>
            <a:ext cx="0" cy="822960"/>
          </a:xfrm>
          <a:prstGeom prst="line">
            <a:avLst/>
          </a:prstGeom>
          <a:noFill/>
          <a:ln w="12700">
            <a:solidFill>
              <a:srgbClr val="8AB0E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99048" y="2459736"/>
            <a:ext cx="0" cy="822960"/>
          </a:xfrm>
          <a:prstGeom prst="line">
            <a:avLst/>
          </a:prstGeom>
          <a:noFill/>
          <a:ln w="12700">
            <a:solidFill>
              <a:srgbClr val="8AB0E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372600" y="2459736"/>
            <a:ext cx="0" cy="822960"/>
          </a:xfrm>
          <a:prstGeom prst="line">
            <a:avLst/>
          </a:prstGeom>
          <a:noFill/>
          <a:ln w="12700">
            <a:solidFill>
              <a:srgbClr val="8AB0E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81044" y="4242816"/>
            <a:ext cx="1005840" cy="0"/>
          </a:xfrm>
          <a:prstGeom prst="line">
            <a:avLst/>
          </a:prstGeom>
          <a:noFill/>
          <a:ln w="12700">
            <a:solidFill>
              <a:srgbClr val="8AB0E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91172" y="4242816"/>
            <a:ext cx="1005840" cy="0"/>
          </a:xfrm>
          <a:prstGeom prst="line">
            <a:avLst/>
          </a:prstGeom>
          <a:noFill/>
          <a:ln w="12700">
            <a:solidFill>
              <a:srgbClr val="8AB0E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51560" y="1682496"/>
            <a:ext cx="3474720" cy="1051560"/>
          </a:xfrm>
          <a:prstGeom prst="roundRect">
            <a:avLst>
              <a:gd name="adj" fmla="val 5217"/>
            </a:avLst>
          </a:prstGeom>
          <a:solidFill>
            <a:srgbClr val="EEF5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61288" y="1783080"/>
            <a:ext cx="256032" cy="256032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1288" y="1837944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54480" y="1828800"/>
            <a:ext cx="29626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 Web 交互层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61288" y="2029968"/>
            <a:ext cx="3255264" cy="6126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表头配置｜上传预览｜任务进度｜结果展示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61688" y="1682496"/>
            <a:ext cx="3474720" cy="1051560"/>
          </a:xfrm>
          <a:prstGeom prst="roundRect">
            <a:avLst>
              <a:gd name="adj" fmla="val 5217"/>
            </a:avLst>
          </a:prstGeom>
          <a:solidFill>
            <a:srgbClr val="EEF5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1416" y="1783080"/>
            <a:ext cx="256032" cy="256032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71416" y="1851658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1792224"/>
            <a:ext cx="29626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FastAPI 后端处理层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471416" y="2029968"/>
            <a:ext cx="3255264" cy="6126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解析｜抽取｜匹配｜溯源｜导出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35240" y="1682496"/>
            <a:ext cx="3474720" cy="1051560"/>
          </a:xfrm>
          <a:prstGeom prst="roundRect">
            <a:avLst>
              <a:gd name="adj" fmla="val 5217"/>
            </a:avLst>
          </a:prstGeom>
          <a:solidFill>
            <a:srgbClr val="EEF5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44968" y="1783080"/>
            <a:ext cx="256032" cy="256032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44968" y="1865376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74152" y="1792224"/>
            <a:ext cx="29626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数据存储与结果管理层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744968" y="2029968"/>
            <a:ext cx="3255264" cy="6126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任务状态｜中间结果｜报告文件｜日志数据库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00684" y="3493008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00430" y="3731260"/>
            <a:ext cx="3246120" cy="346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前端职责</a:t>
            </a:r>
            <a:endParaRPr lang="en-US" sz="2000" b="1" dirty="0">
              <a:solidFill>
                <a:srgbClr val="11304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endParaRPr lang="en-US" sz="2000" b="1" dirty="0">
              <a:solidFill>
                <a:srgbClr val="11304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76960" y="4192905"/>
            <a:ext cx="3261995" cy="139827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让用户先定义输出目标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组织上传与预览流程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呈现任务状态与结果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承担交互入口与反馈闭环</a:t>
            </a:r>
            <a:endParaRPr lang="en-US" sz="20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274820" y="3493008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5FAFF"/>
          </a:solidFill>
          <a:ln w="12700">
            <a:solidFill>
              <a:srgbClr val="BFD4F2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457700" y="365760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后端职责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4302125" y="4192270"/>
            <a:ext cx="3474720" cy="1398905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统一解析多格式文档</a:t>
            </a:r>
            <a:endParaRPr lang="en-US" sz="20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动态组织抽取任务</a:t>
            </a:r>
            <a:endParaRPr lang="en-US" sz="20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执行标准匹配与置信度过滤</a:t>
            </a:r>
            <a:endParaRPr lang="en-US" sz="20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保存字段级来源信息</a:t>
            </a:r>
            <a:endParaRPr lang="en-US" sz="20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648956" y="3493008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831836" y="365760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数据层职责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859268" y="4192525"/>
            <a:ext cx="3246120" cy="1399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持久化任务与缓存</a:t>
            </a:r>
            <a:endParaRPr lang="en-US" sz="20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管理上传文件与报告输出</a:t>
            </a:r>
            <a:endParaRPr lang="en-US" sz="20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支持状态恢复与结果复用</a:t>
            </a:r>
            <a:endParaRPr lang="en-US" sz="20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• 为导出与追踪提供基础</a:t>
            </a:r>
            <a:endParaRPr lang="en-US" sz="20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155448"/>
            <a:ext cx="2011680" cy="73152"/>
          </a:xfrm>
          <a:prstGeom prst="rect">
            <a:avLst/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254496"/>
            <a:ext cx="11064240" cy="0"/>
          </a:xfrm>
          <a:prstGeom prst="line">
            <a:avLst/>
          </a:prstGeom>
          <a:noFill/>
          <a:ln w="12700">
            <a:solidFill>
              <a:srgbClr val="BF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411480"/>
            <a:ext cx="256032" cy="256032"/>
          </a:xfrm>
          <a:prstGeom prst="ellipse">
            <a:avLst/>
          </a:prstGeom>
          <a:solidFill>
            <a:srgbClr val="DCEBFF">
              <a:alpha val="85000"/>
            </a:srgbClr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2256" y="347472"/>
            <a:ext cx="137160" cy="137160"/>
          </a:xfrm>
          <a:prstGeom prst="ellipse">
            <a:avLst/>
          </a:prstGeom>
          <a:solidFill>
            <a:srgbClr val="92F0FF">
              <a:alpha val="90000"/>
            </a:srgbClr>
          </a:solidFill>
          <a:ln w="12700">
            <a:solidFill>
              <a:srgbClr val="92F0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Web端设计思路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3232" y="918972"/>
            <a:ext cx="6217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 端不仅承担展示，更承担“让用户定义抽取目标”的关键入口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Web开发实现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6419088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前端的价值不只是好看，而是把用户意图准确传递给后端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1417320"/>
            <a:ext cx="45720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圆角矩形 22"/>
          <p:cNvSpPr/>
          <p:nvPr/>
        </p:nvSpPr>
        <p:spPr>
          <a:xfrm>
            <a:off x="-635" y="1420495"/>
            <a:ext cx="6381115" cy="4428490"/>
          </a:xfrm>
          <a:prstGeom prst="roundRect">
            <a:avLst/>
          </a:prstGeom>
          <a:gradFill flip="none" rotWithShape="1">
            <a:gsLst>
              <a:gs pos="100000">
                <a:srgbClr val="D1DCF0">
                  <a:alpha val="100000"/>
                </a:srgbClr>
              </a:gs>
              <a:gs pos="81000">
                <a:schemeClr val="accent1">
                  <a:lumMod val="5000"/>
                  <a:lumOff val="95000"/>
                  <a:alpha val="11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95985" y="1571625"/>
            <a:ext cx="420624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设计核心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532120" y="1417320"/>
            <a:ext cx="5897880" cy="4480560"/>
          </a:xfrm>
          <a:prstGeom prst="roundRect">
            <a:avLst>
              <a:gd name="adj" fmla="val 1224"/>
            </a:avLst>
          </a:prstGeom>
          <a:blipFill rotWithShape="1">
            <a:blip r:embed="rId1"/>
            <a:stretch>
              <a:fillRect/>
            </a:stretch>
          </a:blipFill>
          <a:ln w="12700">
            <a:solidFill>
              <a:srgbClr val="1F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5985" y="2252980"/>
            <a:ext cx="4206240" cy="3809365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457200" algn="ctr">
              <a:buNone/>
            </a:pPr>
            <a:r>
              <a:rPr lang="en-US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系统并不要求用户先准备固定模板，而是通过前端页面让用户先定义输出列。</a:t>
            </a:r>
            <a:endParaRPr lang="en-US" dirty="0"/>
          </a:p>
          <a:p>
            <a:pPr marL="0" indent="457200" algn="ctr">
              <a:buNone/>
            </a:pPr>
            <a:endParaRPr lang="en-US" dirty="0"/>
          </a:p>
          <a:p>
            <a:pPr marL="0" indent="457200" algn="ctr">
              <a:buNone/>
            </a:pPr>
            <a:r>
              <a:rPr lang="en-US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这意味着 Web 端承担了“输入抽取目标”的任务：用户配置哪些列、列的顺序是什么、字段槽位如何组织，都会直接影响后端如何生成抽取任务。</a:t>
            </a:r>
            <a:endParaRPr lang="en-US" dirty="0"/>
          </a:p>
          <a:p>
            <a:pPr marL="0" indent="457200" algn="ctr">
              <a:buNone/>
            </a:pPr>
            <a:endParaRPr lang="en-US" dirty="0"/>
          </a:p>
          <a:p>
            <a:pPr marL="0" indent="457200" algn="ctr">
              <a:buNone/>
            </a:pPr>
            <a:r>
              <a:rPr lang="en-US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因此，前端是系统动态能力的起点，而不是简单的展示外壳。</a:t>
            </a:r>
            <a:endParaRPr lang="en-US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155448"/>
            <a:ext cx="2011680" cy="73152"/>
          </a:xfrm>
          <a:prstGeom prst="rect">
            <a:avLst/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163056"/>
            <a:ext cx="11064240" cy="0"/>
          </a:xfrm>
          <a:prstGeom prst="line">
            <a:avLst/>
          </a:prstGeom>
          <a:noFill/>
          <a:ln w="12700">
            <a:solidFill>
              <a:srgbClr val="BF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411480"/>
            <a:ext cx="256032" cy="256032"/>
          </a:xfrm>
          <a:prstGeom prst="ellipse">
            <a:avLst/>
          </a:prstGeom>
          <a:solidFill>
            <a:srgbClr val="DCEBFF">
              <a:alpha val="85000"/>
            </a:srgbClr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2256" y="347472"/>
            <a:ext cx="137160" cy="137160"/>
          </a:xfrm>
          <a:prstGeom prst="ellipse">
            <a:avLst/>
          </a:prstGeom>
          <a:solidFill>
            <a:srgbClr val="92F0FF">
              <a:alpha val="90000"/>
            </a:srgbClr>
          </a:solidFill>
          <a:ln w="12700">
            <a:solidFill>
              <a:srgbClr val="92F0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前端功能一：自定义表头配置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941832"/>
            <a:ext cx="6217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让用户先定义目标，系统再围绕这些目标理解文档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Web开发实现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6373368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用户先定义目标，系统再自动理解文档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1417320"/>
            <a:ext cx="4343400" cy="4462272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531621"/>
            <a:ext cx="3977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功能说明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1929384"/>
            <a:ext cx="3977640" cy="38039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grpSp>
        <p:nvGrpSpPr>
          <p:cNvPr id="38" name="组合 37"/>
          <p:cNvGrpSpPr/>
          <p:nvPr/>
        </p:nvGrpSpPr>
        <p:grpSpPr>
          <a:xfrm>
            <a:off x="969010" y="2020570"/>
            <a:ext cx="3977640" cy="274320"/>
            <a:chOff x="1526" y="3182"/>
            <a:chExt cx="6264" cy="432"/>
          </a:xfrm>
        </p:grpSpPr>
        <p:sp>
          <p:nvSpPr>
            <p:cNvPr id="15" name="Shape 13"/>
            <p:cNvSpPr/>
            <p:nvPr/>
          </p:nvSpPr>
          <p:spPr>
            <a:xfrm>
              <a:off x="1526" y="3298"/>
              <a:ext cx="158" cy="158"/>
            </a:xfrm>
            <a:prstGeom prst="ellipse">
              <a:avLst/>
            </a:prstGeom>
            <a:solidFill>
              <a:srgbClr val="1F63FF"/>
            </a:solidFill>
            <a:ln w="12700">
              <a:solidFill>
                <a:srgbClr val="1F63FF">
                  <a:alpha val="0"/>
                </a:srgbClr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1814" y="3182"/>
              <a:ext cx="5976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30" dirty="0">
                  <a:solidFill>
                    <a:srgbClr val="1130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用户可自由新增、删除、调整结果列</a:t>
              </a:r>
              <a:endParaRPr lang="en-US" sz="1530" dirty="0"/>
            </a:p>
          </p:txBody>
        </p:sp>
      </p:grpSp>
      <p:sp>
        <p:nvSpPr>
          <p:cNvPr id="18" name="Text 16"/>
          <p:cNvSpPr/>
          <p:nvPr/>
        </p:nvSpPr>
        <p:spPr>
          <a:xfrm>
            <a:off x="1152144" y="2665477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30" dirty="0"/>
          </a:p>
        </p:txBody>
      </p:sp>
      <p:grpSp>
        <p:nvGrpSpPr>
          <p:cNvPr id="36" name="组合 35"/>
          <p:cNvGrpSpPr/>
          <p:nvPr/>
        </p:nvGrpSpPr>
        <p:grpSpPr>
          <a:xfrm>
            <a:off x="969010" y="2487295"/>
            <a:ext cx="3986530" cy="274320"/>
            <a:chOff x="1512" y="5234"/>
            <a:chExt cx="6278" cy="432"/>
          </a:xfrm>
        </p:grpSpPr>
        <p:sp>
          <p:nvSpPr>
            <p:cNvPr id="19" name="Shape 17"/>
            <p:cNvSpPr/>
            <p:nvPr/>
          </p:nvSpPr>
          <p:spPr>
            <a:xfrm>
              <a:off x="1512" y="5350"/>
              <a:ext cx="158" cy="158"/>
            </a:xfrm>
            <a:prstGeom prst="ellipse">
              <a:avLst/>
            </a:prstGeom>
            <a:solidFill>
              <a:srgbClr val="1F63FF"/>
            </a:solidFill>
            <a:ln w="12700">
              <a:solidFill>
                <a:srgbClr val="1F63FF">
                  <a:alpha val="0"/>
                </a:srgbClr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1814" y="5234"/>
              <a:ext cx="5976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30" dirty="0">
                  <a:solidFill>
                    <a:srgbClr val="1130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表头顺序直接决定最终结果表顺序</a:t>
              </a:r>
              <a:endParaRPr lang="en-US" sz="1530" dirty="0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987425" y="2954020"/>
            <a:ext cx="3959225" cy="274320"/>
            <a:chOff x="1512" y="6192"/>
            <a:chExt cx="6235" cy="432"/>
          </a:xfrm>
        </p:grpSpPr>
        <p:sp>
          <p:nvSpPr>
            <p:cNvPr id="21" name="Shape 19"/>
            <p:cNvSpPr/>
            <p:nvPr/>
          </p:nvSpPr>
          <p:spPr>
            <a:xfrm>
              <a:off x="1512" y="6307"/>
              <a:ext cx="158" cy="158"/>
            </a:xfrm>
            <a:prstGeom prst="ellipse">
              <a:avLst/>
            </a:prstGeom>
            <a:solidFill>
              <a:srgbClr val="1F63FF"/>
            </a:solidFill>
            <a:ln w="12700">
              <a:solidFill>
                <a:srgbClr val="1F63FF">
                  <a:alpha val="0"/>
                </a:srgbClr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1771" y="6192"/>
              <a:ext cx="5976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30" dirty="0">
                  <a:solidFill>
                    <a:srgbClr val="1130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避免被固定模板束缚，适应不同填报任务</a:t>
              </a:r>
              <a:endParaRPr lang="en-US" sz="1530" dirty="0"/>
            </a:p>
          </p:txBody>
        </p:sp>
      </p:grpSp>
      <p:sp>
        <p:nvSpPr>
          <p:cNvPr id="41" name="圆角矩形 40"/>
          <p:cNvSpPr/>
          <p:nvPr>
            <p:custDataLst>
              <p:tags r:id="rId1"/>
            </p:custDataLst>
          </p:nvPr>
        </p:nvSpPr>
        <p:spPr>
          <a:xfrm>
            <a:off x="-635" y="1420495"/>
            <a:ext cx="6381115" cy="4428490"/>
          </a:xfrm>
          <a:prstGeom prst="roundRect">
            <a:avLst/>
          </a:prstGeom>
          <a:gradFill flip="none" rotWithShape="1">
            <a:gsLst>
              <a:gs pos="84000">
                <a:schemeClr val="accent1">
                  <a:lumMod val="5000"/>
                  <a:lumOff val="95000"/>
                  <a:alpha val="11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14400" y="3493770"/>
            <a:ext cx="3977640" cy="941070"/>
            <a:chOff x="1411" y="7344"/>
            <a:chExt cx="6264" cy="1482"/>
          </a:xfrm>
        </p:grpSpPr>
        <p:sp>
          <p:nvSpPr>
            <p:cNvPr id="23" name="Shape 21"/>
            <p:cNvSpPr/>
            <p:nvPr/>
          </p:nvSpPr>
          <p:spPr>
            <a:xfrm>
              <a:off x="1411" y="7344"/>
              <a:ext cx="6264" cy="1483"/>
            </a:xfrm>
            <a:prstGeom prst="roundRect">
              <a:avLst>
                <a:gd name="adj" fmla="val 12308"/>
              </a:avLst>
            </a:prstGeom>
            <a:solidFill>
              <a:srgbClr val="EDF5FF"/>
            </a:solidFill>
            <a:ln w="12700">
              <a:solidFill>
                <a:srgbClr val="1F63FF"/>
              </a:solidFill>
              <a:prstDash val="solid"/>
            </a:ln>
          </p:spPr>
        </p:sp>
        <p:grpSp>
          <p:nvGrpSpPr>
            <p:cNvPr id="39" name="组合 38"/>
            <p:cNvGrpSpPr/>
            <p:nvPr/>
          </p:nvGrpSpPr>
          <p:grpSpPr>
            <a:xfrm>
              <a:off x="1555" y="7387"/>
              <a:ext cx="5962" cy="1224"/>
              <a:chOff x="1555" y="7387"/>
              <a:chExt cx="5962" cy="1224"/>
            </a:xfrm>
          </p:grpSpPr>
          <p:sp>
            <p:nvSpPr>
              <p:cNvPr id="24" name="Text 22"/>
              <p:cNvSpPr/>
              <p:nvPr/>
            </p:nvSpPr>
            <p:spPr>
              <a:xfrm>
                <a:off x="1598" y="7387"/>
                <a:ext cx="5688" cy="5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50" b="1" dirty="0">
                    <a:solidFill>
                      <a:srgbClr val="11304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创新点</a:t>
                </a:r>
                <a:endParaRPr lang="en-US" sz="1450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1555" y="7877"/>
                <a:ext cx="5962" cy="734"/>
              </a:xfrm>
              <a:prstGeom prst="rect">
                <a:avLst/>
              </a:prstGeom>
              <a:noFill/>
            </p:spPr>
            <p:txBody>
              <a:bodyPr wrap="square" lIns="254" tIns="254" rIns="254" bIns="254" rtlCol="0" anchor="t"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1320" dirty="0">
                    <a:solidFill>
                      <a:srgbClr val="5D708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把“先设计输出表头”前移到用户侧，使抽取不再受限于预设模板。</a:t>
                </a:r>
                <a:endParaRPr lang="en-US" sz="1320" dirty="0"/>
              </a:p>
            </p:txBody>
          </p:sp>
        </p:grpSp>
      </p:grpSp>
      <p:sp>
        <p:nvSpPr>
          <p:cNvPr id="26" name="Shape 24"/>
          <p:cNvSpPr/>
          <p:nvPr/>
        </p:nvSpPr>
        <p:spPr>
          <a:xfrm>
            <a:off x="5349240" y="1417320"/>
            <a:ext cx="5989320" cy="4480560"/>
          </a:xfrm>
          <a:prstGeom prst="roundRect">
            <a:avLst>
              <a:gd name="adj" fmla="val 1224"/>
            </a:avLst>
          </a:prstGeom>
          <a:blipFill rotWithShape="1">
            <a:blip r:embed="rId2"/>
            <a:stretch>
              <a:fillRect/>
            </a:stretch>
          </a:blipFill>
          <a:ln w="12700">
            <a:solidFill>
              <a:srgbClr val="1F63FF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155448"/>
            <a:ext cx="2011680" cy="73152"/>
          </a:xfrm>
          <a:prstGeom prst="rect">
            <a:avLst/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6163056"/>
            <a:ext cx="11064240" cy="0"/>
          </a:xfrm>
          <a:prstGeom prst="line">
            <a:avLst/>
          </a:prstGeom>
          <a:noFill/>
          <a:ln w="12700">
            <a:solidFill>
              <a:srgbClr val="BF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411480"/>
            <a:ext cx="256032" cy="256032"/>
          </a:xfrm>
          <a:prstGeom prst="ellipse">
            <a:avLst/>
          </a:prstGeom>
          <a:solidFill>
            <a:srgbClr val="DCEBFF">
              <a:alpha val="85000"/>
            </a:srgbClr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2256" y="347472"/>
            <a:ext cx="137160" cy="137160"/>
          </a:xfrm>
          <a:prstGeom prst="ellipse">
            <a:avLst/>
          </a:prstGeom>
          <a:solidFill>
            <a:srgbClr val="92F0FF">
              <a:alpha val="90000"/>
            </a:srgbClr>
          </a:solidFill>
          <a:ln w="12700">
            <a:solidFill>
              <a:srgbClr val="92F0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前端功能二：批量上传与在线预览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3796" y="896131"/>
            <a:ext cx="6775704" cy="2377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上传不是孤立动作，而是与预览、任务组织、结果分文件展示联动的入口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Web开发实现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6382512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支持多文件、多格式、多任务并行展示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" y="132588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EEF5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1417320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功能要点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7552" y="1837944"/>
            <a:ext cx="10241280" cy="2103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 TXT / MD / DOCX / XLSX 批量上传；上传前可预览内容，上传后多任务结果可按文件独立展示，便于对比与核验。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8680" y="2752725"/>
            <a:ext cx="5257800" cy="3154680"/>
          </a:xfrm>
          <a:prstGeom prst="roundRect">
            <a:avLst>
              <a:gd name="adj" fmla="val 1739"/>
            </a:avLst>
          </a:prstGeom>
          <a:blipFill rotWithShape="1">
            <a:blip r:embed="rId1"/>
            <a:stretch>
              <a:fillRect/>
            </a:stretch>
          </a:blipFill>
          <a:ln w="12700">
            <a:solidFill>
              <a:srgbClr val="1F63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2757805"/>
            <a:ext cx="4937760" cy="3154680"/>
          </a:xfrm>
          <a:prstGeom prst="roundRect">
            <a:avLst>
              <a:gd name="adj" fmla="val 1739"/>
            </a:avLst>
          </a:prstGeom>
          <a:blipFill rotWithShape="1">
            <a:blip r:embed="rId2"/>
            <a:stretch>
              <a:fillRect/>
            </a:stretch>
          </a:blipFill>
          <a:ln w="12700">
            <a:solidFill>
              <a:srgbClr val="1F63FF"/>
            </a:solidFill>
            <a:prstDash val="solid"/>
          </a:ln>
        </p:spPr>
      </p:sp>
      <p:sp>
        <p:nvSpPr>
          <p:cNvPr id="29" name="圆角矩形 28"/>
          <p:cNvSpPr/>
          <p:nvPr/>
        </p:nvSpPr>
        <p:spPr>
          <a:xfrm>
            <a:off x="2225040" y="2386330"/>
            <a:ext cx="2346325" cy="3651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多文件</a:t>
            </a:r>
            <a:r>
              <a:rPr lang="zh-CN" altLang="en-US"/>
              <a:t>传输</a:t>
            </a:r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7650480" y="2411730"/>
            <a:ext cx="2346960" cy="3219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在线</a:t>
            </a:r>
            <a:r>
              <a:rPr lang="zh-CN" altLang="en-US"/>
              <a:t>预览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155448"/>
            <a:ext cx="2011680" cy="73152"/>
          </a:xfrm>
          <a:prstGeom prst="rect">
            <a:avLst/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236208"/>
            <a:ext cx="11064240" cy="0"/>
          </a:xfrm>
          <a:prstGeom prst="line">
            <a:avLst/>
          </a:prstGeom>
          <a:noFill/>
          <a:ln w="12700">
            <a:solidFill>
              <a:srgbClr val="BF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411480"/>
            <a:ext cx="256032" cy="256032"/>
          </a:xfrm>
          <a:prstGeom prst="ellipse">
            <a:avLst/>
          </a:prstGeom>
          <a:solidFill>
            <a:srgbClr val="DCEBFF">
              <a:alpha val="85000"/>
            </a:srgbClr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2256" y="347472"/>
            <a:ext cx="137160" cy="137160"/>
          </a:xfrm>
          <a:prstGeom prst="ellipse">
            <a:avLst/>
          </a:prstGeom>
          <a:solidFill>
            <a:srgbClr val="92F0FF">
              <a:alpha val="90000"/>
            </a:srgbClr>
          </a:solidFill>
          <a:ln w="12700">
            <a:solidFill>
              <a:srgbClr val="92F0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前端功能三：处理进度实时反馈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3232" y="896112"/>
            <a:ext cx="6217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系统通过过程可视化提升可感知性，让用户知道当前正在做什么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Web开发实现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6419088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上传之后不是黑盒等待，而是可追踪的处理过程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1417320"/>
            <a:ext cx="3886200" cy="448056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2312" y="1673352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进度阶段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5172" y="2404872"/>
            <a:ext cx="3520440" cy="3822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333500" y="2532888"/>
            <a:ext cx="0" cy="393192"/>
          </a:xfrm>
          <a:prstGeom prst="line">
            <a:avLst/>
          </a:prstGeom>
          <a:noFill/>
          <a:ln w="12700">
            <a:solidFill>
              <a:srgbClr val="9CBDE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159764" y="2340864"/>
            <a:ext cx="329184" cy="329184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9764" y="2414016"/>
            <a:ext cx="32918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71828" y="2377440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304F"/>
                </a:solidFill>
              </a:rPr>
              <a:t>等待处理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71828" y="2596896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D7087"/>
                </a:solidFill>
              </a:rPr>
              <a:t>进入队列等待执行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1333500" y="3209544"/>
            <a:ext cx="0" cy="393192"/>
          </a:xfrm>
          <a:prstGeom prst="line">
            <a:avLst/>
          </a:prstGeom>
          <a:noFill/>
          <a:ln w="12700">
            <a:solidFill>
              <a:srgbClr val="9CBDE9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159764" y="3017520"/>
            <a:ext cx="329184" cy="329184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59764" y="3090672"/>
            <a:ext cx="32918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71828" y="3054096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304F"/>
                </a:solidFill>
              </a:rPr>
              <a:t>文件解析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71828" y="327355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D7087"/>
                </a:solidFill>
              </a:rPr>
              <a:t>完成文本与表格统一解析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1333500" y="3886200"/>
            <a:ext cx="0" cy="393192"/>
          </a:xfrm>
          <a:prstGeom prst="line">
            <a:avLst/>
          </a:prstGeom>
          <a:noFill/>
          <a:ln w="12700">
            <a:solidFill>
              <a:srgbClr val="9CBDE9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159764" y="3694176"/>
            <a:ext cx="329184" cy="329184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59764" y="3767328"/>
            <a:ext cx="32918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71828" y="3730752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304F"/>
                </a:solidFill>
              </a:rPr>
              <a:t>字段抽取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671828" y="395020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D7087"/>
                </a:solidFill>
              </a:rPr>
              <a:t>面向目标字段进行识别抽取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1333500" y="4562856"/>
            <a:ext cx="0" cy="393192"/>
          </a:xfrm>
          <a:prstGeom prst="line">
            <a:avLst/>
          </a:prstGeom>
          <a:noFill/>
          <a:ln w="12700">
            <a:solidFill>
              <a:srgbClr val="9CBDE9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159764" y="4370832"/>
            <a:ext cx="329184" cy="329184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59764" y="4443984"/>
            <a:ext cx="32918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71828" y="440740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304F"/>
                </a:solidFill>
              </a:rPr>
              <a:t>标准匹配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671828" y="462686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D7087"/>
                </a:solidFill>
              </a:rPr>
              <a:t>与标准字段体系做匹配规范化</a:t>
            </a:r>
            <a:endParaRPr lang="en-US" sz="1180" dirty="0"/>
          </a:p>
        </p:txBody>
      </p:sp>
      <p:sp>
        <p:nvSpPr>
          <p:cNvPr id="35" name="Shape 33"/>
          <p:cNvSpPr/>
          <p:nvPr/>
        </p:nvSpPr>
        <p:spPr>
          <a:xfrm>
            <a:off x="1159764" y="5047488"/>
            <a:ext cx="329184" cy="329184"/>
          </a:xfrm>
          <a:prstGeom prst="ellipse">
            <a:avLst/>
          </a:prstGeom>
          <a:solidFill>
            <a:srgbClr val="17B26A"/>
          </a:solidFill>
          <a:ln w="12700">
            <a:solidFill>
              <a:srgbClr val="17B2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59764" y="5120640"/>
            <a:ext cx="32918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671828" y="5084064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304F"/>
                </a:solidFill>
              </a:rPr>
              <a:t>处理完成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671828" y="530352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D7087"/>
                </a:solidFill>
              </a:rPr>
              <a:t>生成结果表并进入可下载状态</a:t>
            </a:r>
            <a:endParaRPr lang="en-US" sz="1180" dirty="0"/>
          </a:p>
        </p:txBody>
      </p:sp>
      <p:sp>
        <p:nvSpPr>
          <p:cNvPr id="39" name="Shape 37"/>
          <p:cNvSpPr/>
          <p:nvPr/>
        </p:nvSpPr>
        <p:spPr>
          <a:xfrm>
            <a:off x="4864608" y="1417320"/>
            <a:ext cx="6355080" cy="4480560"/>
          </a:xfrm>
          <a:prstGeom prst="roundRect">
            <a:avLst>
              <a:gd name="adj" fmla="val 1224"/>
            </a:avLst>
          </a:prstGeom>
          <a:blipFill rotWithShape="1">
            <a:blip r:embed="rId1"/>
            <a:stretch>
              <a:fillRect/>
            </a:stretch>
          </a:blipFill>
          <a:ln w="12700">
            <a:solidFill>
              <a:srgbClr val="1F63FF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155448"/>
            <a:ext cx="2011680" cy="73152"/>
          </a:xfrm>
          <a:prstGeom prst="rect">
            <a:avLst/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153912"/>
            <a:ext cx="11064240" cy="0"/>
          </a:xfrm>
          <a:prstGeom prst="line">
            <a:avLst/>
          </a:prstGeom>
          <a:noFill/>
          <a:ln w="12700">
            <a:solidFill>
              <a:srgbClr val="BF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411480"/>
            <a:ext cx="256032" cy="256032"/>
          </a:xfrm>
          <a:prstGeom prst="ellipse">
            <a:avLst/>
          </a:prstGeom>
          <a:solidFill>
            <a:srgbClr val="DCEBFF">
              <a:alpha val="85000"/>
            </a:srgbClr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2256" y="347472"/>
            <a:ext cx="137160" cy="137160"/>
          </a:xfrm>
          <a:prstGeom prst="ellipse">
            <a:avLst/>
          </a:prstGeom>
          <a:solidFill>
            <a:srgbClr val="92F0FF">
              <a:alpha val="90000"/>
            </a:srgbClr>
          </a:solidFill>
          <a:ln w="12700">
            <a:solidFill>
              <a:srgbClr val="92F0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后端设计与接口流程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3232" y="978408"/>
            <a:ext cx="6217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后端基于 FastAPI 构建，以接口链路驱动自动化处理流水线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Web开发实现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6400800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接口设计对应业务流，而不是零散 API 的简单拼接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93392" y="3154680"/>
            <a:ext cx="365760" cy="0"/>
          </a:xfrm>
          <a:prstGeom prst="line">
            <a:avLst/>
          </a:prstGeom>
          <a:noFill/>
          <a:ln w="12700">
            <a:solidFill>
              <a:srgbClr val="8FB5E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39312" y="3154680"/>
            <a:ext cx="365760" cy="0"/>
          </a:xfrm>
          <a:prstGeom prst="line">
            <a:avLst/>
          </a:prstGeom>
          <a:noFill/>
          <a:ln w="12700">
            <a:solidFill>
              <a:srgbClr val="8FB5E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85232" y="3154680"/>
            <a:ext cx="365760" cy="0"/>
          </a:xfrm>
          <a:prstGeom prst="line">
            <a:avLst/>
          </a:prstGeom>
          <a:noFill/>
          <a:ln w="12700">
            <a:solidFill>
              <a:srgbClr val="8FB5E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931152" y="3154680"/>
            <a:ext cx="365760" cy="0"/>
          </a:xfrm>
          <a:prstGeom prst="line">
            <a:avLst/>
          </a:prstGeom>
          <a:noFill/>
          <a:ln w="12700">
            <a:solidFill>
              <a:srgbClr val="8FB5E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77072" y="3154680"/>
            <a:ext cx="365760" cy="0"/>
          </a:xfrm>
          <a:prstGeom prst="line">
            <a:avLst/>
          </a:prstGeom>
          <a:noFill/>
          <a:ln w="12700">
            <a:solidFill>
              <a:srgbClr val="8FB5E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222992" y="3154680"/>
            <a:ext cx="365760" cy="0"/>
          </a:xfrm>
          <a:prstGeom prst="line">
            <a:avLst/>
          </a:prstGeom>
          <a:noFill/>
          <a:ln w="12700">
            <a:solidFill>
              <a:srgbClr val="8FB5E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13232" y="2084834"/>
            <a:ext cx="1280160" cy="1892806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2258568"/>
            <a:ext cx="256032" cy="256032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2313432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70432" y="2267712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/upload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77824" y="2948940"/>
            <a:ext cx="1060704" cy="53035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接收文件并创建任务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359152" y="2084834"/>
            <a:ext cx="1280160" cy="1892806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87168" y="2258568"/>
            <a:ext cx="256032" cy="256032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87168" y="2313432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16352" y="2267712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/tasks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523744" y="2944368"/>
            <a:ext cx="1060704" cy="6400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查询任务状态与结果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005072" y="2084834"/>
            <a:ext cx="1280160" cy="1892806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42232" y="2258568"/>
            <a:ext cx="256032" cy="256032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42232" y="2313432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71416" y="2267712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/parse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178808" y="2944368"/>
            <a:ext cx="1060704" cy="6400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统一解析文本与表格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50992" y="2084834"/>
            <a:ext cx="1280160" cy="1892806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6816" y="2258568"/>
            <a:ext cx="256032" cy="256032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74436" y="2313432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96000" y="2267712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/extract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774436" y="2665476"/>
            <a:ext cx="1060704" cy="11612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按目标字段执行抽取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296912" y="2084834"/>
            <a:ext cx="1280160" cy="1892806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24928" y="2258568"/>
            <a:ext cx="256032" cy="256032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24928" y="2313432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54112" y="2267712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/fields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406640" y="2660902"/>
            <a:ext cx="1115568" cy="11612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管理字段配置与语义信息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942832" y="2084834"/>
            <a:ext cx="1280160" cy="1892806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4" name="Shape 42"/>
          <p:cNvSpPr/>
          <p:nvPr/>
        </p:nvSpPr>
        <p:spPr>
          <a:xfrm>
            <a:off x="9082735" y="2258568"/>
            <a:ext cx="256032" cy="256032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67190" y="2313432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411919" y="2267712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/match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9107424" y="2660902"/>
            <a:ext cx="1060704" cy="11612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执行标准字段匹配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0588752" y="2084834"/>
            <a:ext cx="1280160" cy="1892805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719816" y="2258568"/>
            <a:ext cx="256032" cy="256032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710672" y="2322576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049000" y="2267712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/trace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10719816" y="2660902"/>
            <a:ext cx="1060704" cy="11612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返回字段来源证据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60120" y="4800600"/>
            <a:ext cx="10195560" cy="713232"/>
          </a:xfrm>
          <a:prstGeom prst="roundRect">
            <a:avLst>
              <a:gd name="adj" fmla="val 10256"/>
            </a:avLst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43000" y="4965192"/>
            <a:ext cx="9829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097280" y="4924044"/>
            <a:ext cx="1261872" cy="4069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接口链路说明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2636520" y="5052059"/>
            <a:ext cx="84124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后端通过统一接口流程把上传、解析、抽取、匹配、溯源串成自动化流水线，减少人工逐步触发操作。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E274A"/>
          </a:solidFill>
          <a:ln w="12700">
            <a:solidFill>
              <a:srgbClr val="0E27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43600"/>
            <a:ext cx="11155680" cy="0"/>
          </a:xfrm>
          <a:prstGeom prst="line">
            <a:avLst/>
          </a:prstGeom>
          <a:noFill/>
          <a:ln w="12700">
            <a:solidFill>
              <a:srgbClr val="385B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C4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744200" y="411480"/>
            <a:ext cx="320040" cy="320040"/>
          </a:xfrm>
          <a:prstGeom prst="ellipse">
            <a:avLst/>
          </a:prstGeom>
          <a:solidFill>
            <a:srgbClr val="173C71">
              <a:alpha val="92000"/>
            </a:srgbClr>
          </a:solidFill>
          <a:ln w="12700">
            <a:solidFill>
              <a:srgbClr val="173C7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7392" y="365760"/>
            <a:ext cx="164592" cy="164592"/>
          </a:xfrm>
          <a:prstGeom prst="ellipse">
            <a:avLst/>
          </a:prstGeom>
          <a:solidFill>
            <a:srgbClr val="2FD4FF">
              <a:alpha val="90000"/>
            </a:srgbClr>
          </a:solidFill>
          <a:ln w="12700">
            <a:solidFill>
              <a:srgbClr val="2FD4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创新一：上传后自动触发处理流水线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95528" y="987552"/>
            <a:ext cx="6217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6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自动化流水线是系统效率与工程化能力的基础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2F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创新成果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6245352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C4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一次上传，自动完成后续处理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55648" y="2084831"/>
            <a:ext cx="0" cy="2560320"/>
          </a:xfrm>
          <a:prstGeom prst="line">
            <a:avLst/>
          </a:prstGeom>
          <a:noFill/>
          <a:ln w="12700">
            <a:solidFill>
              <a:srgbClr val="6E96C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481328" y="1700783"/>
            <a:ext cx="548640" cy="548640"/>
          </a:xfrm>
          <a:prstGeom prst="ellipse">
            <a:avLst/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81328" y="1856231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304288" y="1627631"/>
            <a:ext cx="2743200" cy="694944"/>
          </a:xfrm>
          <a:prstGeom prst="roundRect">
            <a:avLst>
              <a:gd name="adj" fmla="val 7895"/>
            </a:avLst>
          </a:prstGeom>
          <a:solidFill>
            <a:srgbClr val="13345F"/>
          </a:solidFill>
          <a:ln w="12700">
            <a:solidFill>
              <a:srgbClr val="426D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14016" y="1737359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文件上传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414016" y="1975103"/>
            <a:ext cx="2523744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2D7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接收文件并创建任务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81328" y="2432303"/>
            <a:ext cx="548640" cy="548640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81328" y="2587751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304288" y="2359151"/>
            <a:ext cx="2743200" cy="694944"/>
          </a:xfrm>
          <a:prstGeom prst="roundRect">
            <a:avLst>
              <a:gd name="adj" fmla="val 7895"/>
            </a:avLst>
          </a:prstGeom>
          <a:solidFill>
            <a:srgbClr val="13345F"/>
          </a:solidFill>
          <a:ln w="12700">
            <a:solidFill>
              <a:srgbClr val="426D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14016" y="2468879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进入队列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414016" y="2706623"/>
            <a:ext cx="2523744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2D7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统一调度处理流程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481328" y="3163823"/>
            <a:ext cx="548640" cy="548640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81328" y="3319271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304288" y="3090671"/>
            <a:ext cx="2743200" cy="694944"/>
          </a:xfrm>
          <a:prstGeom prst="roundRect">
            <a:avLst>
              <a:gd name="adj" fmla="val 7895"/>
            </a:avLst>
          </a:prstGeom>
          <a:solidFill>
            <a:srgbClr val="13345F"/>
          </a:solidFill>
          <a:ln w="12700">
            <a:solidFill>
              <a:srgbClr val="426D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14016" y="3200399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 parse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414016" y="3438143"/>
            <a:ext cx="2523744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2D7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多格式统一解析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81328" y="3895343"/>
            <a:ext cx="548640" cy="548640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81328" y="4050791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304288" y="3822191"/>
            <a:ext cx="2743200" cy="694944"/>
          </a:xfrm>
          <a:prstGeom prst="roundRect">
            <a:avLst>
              <a:gd name="adj" fmla="val 7895"/>
            </a:avLst>
          </a:prstGeom>
          <a:solidFill>
            <a:srgbClr val="13345F"/>
          </a:solidFill>
          <a:ln w="12700">
            <a:solidFill>
              <a:srgbClr val="426D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14016" y="3931919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 extract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414016" y="4169663"/>
            <a:ext cx="2523744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2D7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按目标字段抽取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81328" y="4626863"/>
            <a:ext cx="548640" cy="548640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81328" y="4782311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304288" y="4553711"/>
            <a:ext cx="2743200" cy="694944"/>
          </a:xfrm>
          <a:prstGeom prst="roundRect">
            <a:avLst>
              <a:gd name="adj" fmla="val 7895"/>
            </a:avLst>
          </a:prstGeom>
          <a:solidFill>
            <a:srgbClr val="13345F"/>
          </a:solidFill>
          <a:ln w="12700">
            <a:solidFill>
              <a:srgbClr val="426D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14016" y="4663439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 match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414016" y="4901183"/>
            <a:ext cx="2523744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2D7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标准匹配与结果整理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915912" y="1408177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12315A"/>
          </a:solidFill>
          <a:ln w="12700">
            <a:solidFill>
              <a:srgbClr val="355C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98792" y="1572769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98792" y="1920241"/>
            <a:ext cx="3154680" cy="35021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235952" y="1984249"/>
            <a:ext cx="100584" cy="100584"/>
          </a:xfrm>
          <a:prstGeom prst="ellipse">
            <a:avLst/>
          </a:prstGeom>
          <a:solidFill>
            <a:srgbClr val="2FD4FF"/>
          </a:solidFill>
          <a:ln w="12700">
            <a:solidFill>
              <a:srgbClr val="2FD4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00544" y="1911097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上传后无需用户逐步点击触发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7235952" y="2697481"/>
            <a:ext cx="100584" cy="100584"/>
          </a:xfrm>
          <a:prstGeom prst="ellipse">
            <a:avLst/>
          </a:prstGeom>
          <a:solidFill>
            <a:srgbClr val="2FD4FF"/>
          </a:solidFill>
          <a:ln w="12700">
            <a:solidFill>
              <a:srgbClr val="2FD4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0544" y="2624329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自动串联 parse / extract / match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7235952" y="3410713"/>
            <a:ext cx="100584" cy="100584"/>
          </a:xfrm>
          <a:prstGeom prst="ellipse">
            <a:avLst/>
          </a:prstGeom>
          <a:solidFill>
            <a:srgbClr val="2FD4FF"/>
          </a:solidFill>
          <a:ln w="12700">
            <a:solidFill>
              <a:srgbClr val="2FD4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0544" y="3337561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支持任务状态恢复与缓存复用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7235952" y="4123945"/>
            <a:ext cx="100584" cy="100584"/>
          </a:xfrm>
          <a:prstGeom prst="ellipse">
            <a:avLst/>
          </a:prstGeom>
          <a:solidFill>
            <a:srgbClr val="2FD4FF"/>
          </a:solidFill>
          <a:ln w="12700">
            <a:solidFill>
              <a:srgbClr val="2FD4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00544" y="4050793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体现工程化与可扩展处理能力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155448"/>
            <a:ext cx="2011680" cy="73152"/>
          </a:xfrm>
          <a:prstGeom prst="rect">
            <a:avLst/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272784"/>
            <a:ext cx="11064240" cy="0"/>
          </a:xfrm>
          <a:prstGeom prst="line">
            <a:avLst/>
          </a:prstGeom>
          <a:noFill/>
          <a:ln w="12700">
            <a:solidFill>
              <a:srgbClr val="BF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411480"/>
            <a:ext cx="256032" cy="256032"/>
          </a:xfrm>
          <a:prstGeom prst="ellipse">
            <a:avLst/>
          </a:prstGeom>
          <a:solidFill>
            <a:srgbClr val="DCEBFF">
              <a:alpha val="85000"/>
            </a:srgbClr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2256" y="347472"/>
            <a:ext cx="137160" cy="137160"/>
          </a:xfrm>
          <a:prstGeom prst="ellipse">
            <a:avLst/>
          </a:prstGeom>
          <a:solidFill>
            <a:srgbClr val="92F0FF">
              <a:alpha val="90000"/>
            </a:srgbClr>
          </a:solidFill>
          <a:ln w="12700">
            <a:solidFill>
              <a:srgbClr val="92F0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创新二：多格式文档统一结构化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22376" y="1014984"/>
            <a:ext cx="6217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先统一解析，再统一抽取，是后续准确识别的前提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创新成果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6419088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不同格式先“归一”，后续抽取才有共同基础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466850" y="1664211"/>
            <a:ext cx="1211580" cy="402335"/>
          </a:xfrm>
          <a:prstGeom prst="roundRect">
            <a:avLst>
              <a:gd name="adj" fmla="val 17857"/>
            </a:avLst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88770" y="1783083"/>
            <a:ext cx="9601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输入文档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2267712"/>
            <a:ext cx="2423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2377440"/>
            <a:ext cx="2240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Word 文档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32688" y="2615184"/>
            <a:ext cx="2203704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段落 + 表格解析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3502152"/>
            <a:ext cx="2423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3611880"/>
            <a:ext cx="2240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Excel 表格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2688" y="3849624"/>
            <a:ext cx="2203704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工作表、行列、单元格定位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4736592"/>
            <a:ext cx="2423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4846320"/>
            <a:ext cx="2240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Markdown / TXT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2688" y="5084064"/>
            <a:ext cx="2203704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标准文本段落转换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 rot="2160000">
            <a:off x="3429000" y="2679192"/>
            <a:ext cx="1280160" cy="0"/>
          </a:xfrm>
          <a:prstGeom prst="line">
            <a:avLst/>
          </a:prstGeom>
          <a:noFill/>
          <a:ln w="12700">
            <a:solidFill>
              <a:srgbClr val="8AB0E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429000" y="3913632"/>
            <a:ext cx="1280160" cy="0"/>
          </a:xfrm>
          <a:prstGeom prst="line">
            <a:avLst/>
          </a:prstGeom>
          <a:noFill/>
          <a:ln w="12700">
            <a:solidFill>
              <a:srgbClr val="8AB0E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 rot="19200000">
            <a:off x="3429000" y="5148072"/>
            <a:ext cx="1280160" cy="0"/>
          </a:xfrm>
          <a:prstGeom prst="line">
            <a:avLst/>
          </a:prstGeom>
          <a:noFill/>
          <a:ln w="12700">
            <a:solidFill>
              <a:srgbClr val="8AB0E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92040" y="3104391"/>
            <a:ext cx="2514600" cy="1691639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3360423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统一解析中间层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035296" y="3451863"/>
            <a:ext cx="2295144" cy="15270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面向不同格式材料，抽取可复用的中间表达，为抽取、匹配、溯源提供统一输入。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498080" y="3895344"/>
            <a:ext cx="1051560" cy="0"/>
          </a:xfrm>
          <a:prstGeom prst="line">
            <a:avLst/>
          </a:prstGeom>
          <a:noFill/>
          <a:ln w="12700">
            <a:solidFill>
              <a:srgbClr val="8AB0E6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470392" y="1426465"/>
            <a:ext cx="2788920" cy="4562853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549640" y="1645919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统一输出结果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8613648" y="2075688"/>
            <a:ext cx="2587752" cy="1188719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just">
              <a:buNone/>
            </a:pPr>
            <a:r>
              <a:rPr lang="en-US" sz="133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不同文件最终被转化为统一结构：段落、表格、视图、原始文本。这样后续逻辑只需面对一种中间表示，而不必为每种文件单独开发抽取流程。</a:t>
            </a:r>
            <a:endParaRPr lang="en-US" sz="1330" dirty="0"/>
          </a:p>
        </p:txBody>
      </p:sp>
      <p:sp>
        <p:nvSpPr>
          <p:cNvPr id="45" name="Shape 10"/>
          <p:cNvSpPr/>
          <p:nvPr/>
        </p:nvSpPr>
        <p:spPr>
          <a:xfrm>
            <a:off x="5468112" y="2574040"/>
            <a:ext cx="1211580" cy="402335"/>
          </a:xfrm>
          <a:prstGeom prst="roundRect">
            <a:avLst>
              <a:gd name="adj" fmla="val 17857"/>
            </a:avLst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93842" y="2702055"/>
            <a:ext cx="9601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统一处理</a:t>
            </a:r>
            <a:endParaRPr lang="en-US" sz="1200" dirty="0"/>
          </a:p>
        </p:txBody>
      </p:sp>
      <p:sp>
        <p:nvSpPr>
          <p:cNvPr id="46" name="Shape 10"/>
          <p:cNvSpPr/>
          <p:nvPr/>
        </p:nvSpPr>
        <p:spPr>
          <a:xfrm>
            <a:off x="9155430" y="960121"/>
            <a:ext cx="1211580" cy="402335"/>
          </a:xfrm>
          <a:prstGeom prst="roundRect">
            <a:avLst>
              <a:gd name="adj" fmla="val 17857"/>
            </a:avLst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230868" y="1088136"/>
            <a:ext cx="9601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输出结构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875776" y="3136392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EDF5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75776" y="3163824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paragraphs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875776" y="3867912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E9F9F3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75776" y="3895344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tables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875776" y="4599432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EFF1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75776" y="4626864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table_views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875776" y="5330952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EAF7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75776" y="5358384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raw_text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E274A"/>
          </a:solidFill>
          <a:ln w="12700">
            <a:solidFill>
              <a:srgbClr val="0E27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8007" y="6199632"/>
            <a:ext cx="11155680" cy="0"/>
          </a:xfrm>
          <a:prstGeom prst="line">
            <a:avLst/>
          </a:prstGeom>
          <a:noFill/>
          <a:ln w="12700">
            <a:solidFill>
              <a:srgbClr val="385B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C4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744200" y="411480"/>
            <a:ext cx="320040" cy="320040"/>
          </a:xfrm>
          <a:prstGeom prst="ellipse">
            <a:avLst/>
          </a:prstGeom>
          <a:solidFill>
            <a:srgbClr val="173C71">
              <a:alpha val="92000"/>
            </a:srgbClr>
          </a:solidFill>
          <a:ln w="12700">
            <a:solidFill>
              <a:srgbClr val="173C7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7392" y="365760"/>
            <a:ext cx="164592" cy="164592"/>
          </a:xfrm>
          <a:prstGeom prst="ellipse">
            <a:avLst/>
          </a:prstGeom>
          <a:solidFill>
            <a:srgbClr val="2FD4FF">
              <a:alpha val="90000"/>
            </a:srgbClr>
          </a:solidFill>
          <a:ln w="12700">
            <a:solidFill>
              <a:srgbClr val="2FD4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创新三：自动填表机制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905258"/>
            <a:ext cx="6583680" cy="25602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6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这是系统最核心的创新：不是固定模板抽取，而是用户驱动的动态成表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2F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创新成果 / 核心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" y="6382512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C4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从“人手填表”变成“系统自动成表”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0120" y="1417320"/>
            <a:ext cx="3368040" cy="731520"/>
          </a:xfrm>
          <a:prstGeom prst="roundRect">
            <a:avLst>
              <a:gd name="adj" fmla="val 6250"/>
            </a:avLst>
          </a:prstGeom>
          <a:solidFill>
            <a:srgbClr val="14345D"/>
          </a:solidFill>
          <a:ln w="12700">
            <a:solidFill>
              <a:srgbClr val="4E7C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1527048"/>
            <a:ext cx="322173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表头输入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373880" y="1417320"/>
            <a:ext cx="3368040" cy="731520"/>
          </a:xfrm>
          <a:prstGeom prst="roundRect">
            <a:avLst>
              <a:gd name="adj" fmla="val 6250"/>
            </a:avLst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7032" y="1527048"/>
            <a:ext cx="322173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自动抽取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787640" y="1417320"/>
            <a:ext cx="3368040" cy="731520"/>
          </a:xfrm>
          <a:prstGeom prst="roundRect">
            <a:avLst>
              <a:gd name="adj" fmla="val 6250"/>
            </a:avLst>
          </a:prstGeom>
          <a:solidFill>
            <a:srgbClr val="14345D"/>
          </a:solidFill>
          <a:ln w="12700">
            <a:solidFill>
              <a:srgbClr val="4E7C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0792" y="1527048"/>
            <a:ext cx="322173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自动成表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60120" y="2514600"/>
            <a:ext cx="3108960" cy="2560320"/>
          </a:xfrm>
          <a:prstGeom prst="roundRect">
            <a:avLst>
              <a:gd name="adj" fmla="val 2857"/>
            </a:avLst>
          </a:prstGeom>
          <a:solidFill>
            <a:srgbClr val="12315A"/>
          </a:solidFill>
          <a:ln w="12700">
            <a:solidFill>
              <a:srgbClr val="355C8C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43000" y="267919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第一步｜用户定义目标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3337559"/>
            <a:ext cx="2743200" cy="1591057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C2D7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用户先给出自己需要的输出表头，例如“项目名称、负责人、金额、时间、同比”等。</a:t>
            </a:r>
            <a:endParaRPr lang="en-US" sz="1330" dirty="0"/>
          </a:p>
          <a:p>
            <a:pPr marL="0" indent="0">
              <a:buNone/>
            </a:pP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C2D7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系统不预设死板模板，而是以用户意图为准。</a:t>
            </a:r>
            <a:endParaRPr lang="en-US" sz="1330" dirty="0"/>
          </a:p>
        </p:txBody>
      </p:sp>
      <p:sp>
        <p:nvSpPr>
          <p:cNvPr id="21" name="Shape 19"/>
          <p:cNvSpPr/>
          <p:nvPr/>
        </p:nvSpPr>
        <p:spPr>
          <a:xfrm>
            <a:off x="4544568" y="2514600"/>
            <a:ext cx="3108960" cy="2560320"/>
          </a:xfrm>
          <a:prstGeom prst="roundRect">
            <a:avLst>
              <a:gd name="adj" fmla="val 2857"/>
            </a:avLst>
          </a:prstGeom>
          <a:solidFill>
            <a:srgbClr val="12315A"/>
          </a:solidFill>
          <a:ln w="12700">
            <a:solidFill>
              <a:srgbClr val="355C8C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27448" y="267919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第二步｜后端动态生成任务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82185" y="3337560"/>
            <a:ext cx="2743200" cy="122047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C2D7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后端根据表头自动扩展字段描述、别名与内部 key，并据此生成本轮抽取任务。</a:t>
            </a:r>
            <a:endParaRPr lang="en-US" sz="1330" dirty="0"/>
          </a:p>
          <a:p>
            <a:pPr marL="0" indent="0">
              <a:buNone/>
            </a:pP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C2D7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抽取逻辑是“按目标驱动”的。</a:t>
            </a:r>
            <a:endParaRPr lang="en-US" sz="1330" dirty="0">
              <a:solidFill>
                <a:srgbClr val="C2D7F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endParaRPr lang="en-US" sz="1330" dirty="0"/>
          </a:p>
          <a:p>
            <a:pPr marL="0" indent="0">
              <a:buNone/>
            </a:pPr>
            <a:endParaRPr lang="zh-CN" altLang="en-US" sz="1330" dirty="0"/>
          </a:p>
        </p:txBody>
      </p:sp>
      <p:sp>
        <p:nvSpPr>
          <p:cNvPr id="24" name="Shape 22"/>
          <p:cNvSpPr/>
          <p:nvPr/>
        </p:nvSpPr>
        <p:spPr>
          <a:xfrm>
            <a:off x="8129016" y="2514600"/>
            <a:ext cx="3108960" cy="2560320"/>
          </a:xfrm>
          <a:prstGeom prst="roundRect">
            <a:avLst>
              <a:gd name="adj" fmla="val 2857"/>
            </a:avLst>
          </a:prstGeom>
          <a:solidFill>
            <a:srgbClr val="12315A"/>
          </a:solidFill>
          <a:ln w="12700">
            <a:solidFill>
              <a:srgbClr val="355C8C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11896" y="267919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第三步｜按行组织结果表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94192" y="3328415"/>
            <a:ext cx="2743200" cy="1435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C2D7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系统自动识别对应字段，并将分散字段按记录进行组织，最终形成结构化结果表。</a:t>
            </a:r>
            <a:endParaRPr lang="en-US" sz="1330" dirty="0"/>
          </a:p>
          <a:p>
            <a:pPr marL="0" indent="0">
              <a:buNone/>
            </a:pP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C2D7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输出结果可以直接预览、下载与回查来源。</a:t>
            </a:r>
            <a:endParaRPr lang="en-US" sz="1330" dirty="0"/>
          </a:p>
        </p:txBody>
      </p:sp>
      <p:sp>
        <p:nvSpPr>
          <p:cNvPr id="27" name="Shape 25"/>
          <p:cNvSpPr/>
          <p:nvPr/>
        </p:nvSpPr>
        <p:spPr>
          <a:xfrm>
            <a:off x="1097280" y="544068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12315A"/>
          </a:solidFill>
          <a:ln w="12700">
            <a:solidFill>
              <a:srgbClr val="355C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07008" y="5550408"/>
            <a:ext cx="160934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本质区别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07008" y="5715000"/>
            <a:ext cx="16093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2F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动态填表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3154680" y="544068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12315A"/>
          </a:solidFill>
          <a:ln w="12700">
            <a:solidFill>
              <a:srgbClr val="355C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64408" y="5550408"/>
            <a:ext cx="160934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传统方式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64408" y="5715000"/>
            <a:ext cx="16093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2F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固定模板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5212080" y="544068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12315A"/>
          </a:solidFill>
          <a:ln w="12700">
            <a:solidFill>
              <a:srgbClr val="355C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21808" y="5550408"/>
            <a:ext cx="160934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核心驱动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21808" y="5724144"/>
            <a:ext cx="16093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92F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用户表头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7269480" y="544068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12315A"/>
          </a:solidFill>
          <a:ln w="12700">
            <a:solidFill>
              <a:srgbClr val="355C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79208" y="5550408"/>
            <a:ext cx="160934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输出形态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79208" y="5715000"/>
            <a:ext cx="16093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2F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结构化表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9326880" y="544068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12315A"/>
          </a:solidFill>
          <a:ln w="12700">
            <a:solidFill>
              <a:srgbClr val="355C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36608" y="5550408"/>
            <a:ext cx="160934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6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可解释性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436608" y="5715000"/>
            <a:ext cx="16093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2F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支持溯源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155448"/>
            <a:ext cx="2011680" cy="73152"/>
          </a:xfrm>
          <a:prstGeom prst="rect">
            <a:avLst/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181344"/>
            <a:ext cx="11064240" cy="0"/>
          </a:xfrm>
          <a:prstGeom prst="line">
            <a:avLst/>
          </a:prstGeom>
          <a:noFill/>
          <a:ln w="12700">
            <a:solidFill>
              <a:srgbClr val="BF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411480"/>
            <a:ext cx="256032" cy="256032"/>
          </a:xfrm>
          <a:prstGeom prst="ellipse">
            <a:avLst/>
          </a:prstGeom>
          <a:solidFill>
            <a:srgbClr val="DCEBFF">
              <a:alpha val="85000"/>
            </a:srgbClr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2256" y="347472"/>
            <a:ext cx="137160" cy="137160"/>
          </a:xfrm>
          <a:prstGeom prst="ellipse">
            <a:avLst/>
          </a:prstGeom>
          <a:solidFill>
            <a:srgbClr val="92F0FF">
              <a:alpha val="90000"/>
            </a:srgbClr>
          </a:solidFill>
          <a:ln w="12700">
            <a:solidFill>
              <a:srgbClr val="92F0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创新四：表头语义自动理解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35508" y="941832"/>
            <a:ext cx="6446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用户输入的表头不仅是“文字标题”，更是后端理解任务的语义起点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创新成果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6355080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表头增强越充分，抽取命中率越高Z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51560" y="1609344"/>
            <a:ext cx="3291840" cy="44805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1773936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原始列名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121408"/>
            <a:ext cx="2926080" cy="3822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353312" y="2459736"/>
            <a:ext cx="2606040" cy="411480"/>
          </a:xfrm>
          <a:prstGeom prst="roundRect">
            <a:avLst>
              <a:gd name="adj" fmla="val 17778"/>
            </a:avLst>
          </a:prstGeom>
          <a:solidFill>
            <a:srgbClr val="EEF5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3312" y="2487168"/>
            <a:ext cx="260604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项目负责人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353312" y="3282696"/>
            <a:ext cx="2606040" cy="411480"/>
          </a:xfrm>
          <a:prstGeom prst="roundRect">
            <a:avLst>
              <a:gd name="adj" fmla="val 17778"/>
            </a:avLst>
          </a:prstGeom>
          <a:solidFill>
            <a:srgbClr val="EEF5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53312" y="3310128"/>
            <a:ext cx="260604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项目金额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53312" y="4105656"/>
            <a:ext cx="2606040" cy="411480"/>
          </a:xfrm>
          <a:prstGeom prst="roundRect">
            <a:avLst>
              <a:gd name="adj" fmla="val 17778"/>
            </a:avLst>
          </a:prstGeom>
          <a:solidFill>
            <a:srgbClr val="EEF5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53312" y="4133088"/>
            <a:ext cx="260604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统计时间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353312" y="4928616"/>
            <a:ext cx="2606040" cy="411480"/>
          </a:xfrm>
          <a:prstGeom prst="roundRect">
            <a:avLst>
              <a:gd name="adj" fmla="val 17778"/>
            </a:avLst>
          </a:prstGeom>
          <a:solidFill>
            <a:srgbClr val="EEF5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53312" y="4956048"/>
            <a:ext cx="260604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同比增速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62272" y="3803904"/>
            <a:ext cx="548640" cy="0"/>
          </a:xfrm>
          <a:prstGeom prst="line">
            <a:avLst/>
          </a:prstGeom>
          <a:noFill/>
          <a:ln w="12700">
            <a:solidFill>
              <a:srgbClr val="8AB0E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02352" y="1609344"/>
            <a:ext cx="5961888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1773936"/>
            <a:ext cx="6080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增强后的字段语义信息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82412" y="2386584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F5F8FD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82412" y="2496312"/>
            <a:ext cx="1325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304F"/>
                </a:solidFill>
              </a:rPr>
              <a:t>字段描述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82028" y="2450592"/>
            <a:ext cx="41605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D7087"/>
                </a:solidFill>
              </a:rPr>
              <a:t>明确“该列希望输出什么信息”</a:t>
            </a:r>
            <a:endParaRPr lang="en-US" sz="1320" dirty="0"/>
          </a:p>
        </p:txBody>
      </p:sp>
      <p:sp>
        <p:nvSpPr>
          <p:cNvPr id="30" name="Shape 28"/>
          <p:cNvSpPr/>
          <p:nvPr/>
        </p:nvSpPr>
        <p:spPr>
          <a:xfrm>
            <a:off x="5582412" y="3044952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EAF7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82412" y="3154680"/>
            <a:ext cx="1325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304F"/>
                </a:solidFill>
              </a:rPr>
              <a:t>别名扩展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082028" y="3108960"/>
            <a:ext cx="41605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D7087"/>
                </a:solidFill>
              </a:rPr>
              <a:t>负责人 / 联系人 / 牵头人 / 项目联系人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5582412" y="3703320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F5F8FD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82412" y="3813048"/>
            <a:ext cx="1325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304F"/>
                </a:solidFill>
              </a:rPr>
              <a:t>内部 key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082028" y="3767328"/>
            <a:ext cx="41605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D7087"/>
                </a:solidFill>
              </a:rPr>
              <a:t>person_in_charge / amount / period / yoy_rate</a:t>
            </a:r>
            <a:endParaRPr lang="en-US" sz="1320" dirty="0"/>
          </a:p>
        </p:txBody>
      </p:sp>
      <p:sp>
        <p:nvSpPr>
          <p:cNvPr id="36" name="Shape 34"/>
          <p:cNvSpPr/>
          <p:nvPr/>
        </p:nvSpPr>
        <p:spPr>
          <a:xfrm>
            <a:off x="5582412" y="4361688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F5F8FD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82412" y="4471416"/>
            <a:ext cx="1325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304F"/>
                </a:solidFill>
              </a:rPr>
              <a:t>抽取提示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082028" y="4425696"/>
            <a:ext cx="41605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D7087"/>
                </a:solidFill>
              </a:rPr>
              <a:t>提升模型对字段含义与取值范围的理解</a:t>
            </a:r>
            <a:endParaRPr lang="en-US" sz="1320" dirty="0"/>
          </a:p>
        </p:txBody>
      </p:sp>
      <p:sp>
        <p:nvSpPr>
          <p:cNvPr id="39" name="Shape 37"/>
          <p:cNvSpPr/>
          <p:nvPr/>
        </p:nvSpPr>
        <p:spPr>
          <a:xfrm>
            <a:off x="5582412" y="5020056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F5F8FD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82412" y="5129784"/>
            <a:ext cx="1325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304F"/>
                </a:solidFill>
              </a:rPr>
              <a:t>适配能力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082028" y="5084064"/>
            <a:ext cx="41605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D7087"/>
                </a:solidFill>
              </a:rPr>
              <a:t>减少不同文档表达差异造成的遗漏</a:t>
            </a:r>
            <a:endParaRPr lang="en-US" sz="13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E274A"/>
          </a:solidFill>
          <a:ln w="12700">
            <a:solidFill>
              <a:srgbClr val="0E27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117336"/>
            <a:ext cx="11155680" cy="0"/>
          </a:xfrm>
          <a:prstGeom prst="line">
            <a:avLst/>
          </a:prstGeom>
          <a:noFill/>
          <a:ln w="12700">
            <a:solidFill>
              <a:srgbClr val="385B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C4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744200" y="411480"/>
            <a:ext cx="320040" cy="320040"/>
          </a:xfrm>
          <a:prstGeom prst="ellipse">
            <a:avLst/>
          </a:prstGeom>
          <a:solidFill>
            <a:srgbClr val="173C71">
              <a:alpha val="92000"/>
            </a:srgbClr>
          </a:solidFill>
          <a:ln w="12700">
            <a:solidFill>
              <a:srgbClr val="173C7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7392" y="365760"/>
            <a:ext cx="164592" cy="164592"/>
          </a:xfrm>
          <a:prstGeom prst="ellipse">
            <a:avLst/>
          </a:prstGeom>
          <a:solidFill>
            <a:srgbClr val="2FD4FF">
              <a:alpha val="90000"/>
            </a:srgbClr>
          </a:solidFill>
          <a:ln w="12700">
            <a:solidFill>
              <a:srgbClr val="2FD4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创新五：文本创新性处理与逐列归并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914400"/>
            <a:ext cx="6217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6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系统不是简单抓关键词，而是在尝试“理解并还原记录结构”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2F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创新成果 / 重点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6309360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C4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把零散信息重新组织成可用数据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35936" y="1362457"/>
            <a:ext cx="1219200" cy="393192"/>
          </a:xfrm>
          <a:prstGeom prst="roundRect">
            <a:avLst>
              <a:gd name="adj" fmla="val 17857"/>
            </a:avLst>
          </a:prstGeom>
          <a:solidFill>
            <a:srgbClr val="173C71"/>
          </a:solidFill>
          <a:ln w="12700">
            <a:solidFill>
              <a:srgbClr val="173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8336" y="1472185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2F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文本处理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6008" y="1842517"/>
            <a:ext cx="5074920" cy="3259835"/>
          </a:xfrm>
          <a:prstGeom prst="roundRect">
            <a:avLst>
              <a:gd name="adj" fmla="val 1616"/>
            </a:avLst>
          </a:prstGeom>
          <a:solidFill>
            <a:srgbClr val="12315A"/>
          </a:solidFill>
          <a:ln w="12700">
            <a:solidFill>
              <a:srgbClr val="355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8888" y="2007109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左侧：文本处理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87552" y="1975104"/>
            <a:ext cx="4709160" cy="3867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153412" y="3355849"/>
            <a:ext cx="502920" cy="0"/>
          </a:xfrm>
          <a:prstGeom prst="line">
            <a:avLst/>
          </a:prstGeom>
          <a:noFill/>
          <a:ln w="12700">
            <a:solidFill>
              <a:srgbClr val="6E96C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6405" y="2665476"/>
            <a:ext cx="1207007" cy="1193293"/>
          </a:xfrm>
          <a:prstGeom prst="roundRect">
            <a:avLst>
              <a:gd name="adj" fmla="val 6000"/>
            </a:avLst>
          </a:prstGeom>
          <a:solidFill>
            <a:srgbClr val="13345F"/>
          </a:solidFill>
          <a:ln w="12700">
            <a:solidFill>
              <a:srgbClr val="426D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8700" y="2782066"/>
            <a:ext cx="1071372" cy="2834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段落 / 表格行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1257300" y="3088390"/>
            <a:ext cx="694944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2D7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统一输入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3570732" y="3355849"/>
            <a:ext cx="502920" cy="0"/>
          </a:xfrm>
          <a:prstGeom prst="line">
            <a:avLst/>
          </a:prstGeom>
          <a:noFill/>
          <a:ln w="12700">
            <a:solidFill>
              <a:srgbClr val="6E96C7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656331" y="2656334"/>
            <a:ext cx="1207007" cy="1202435"/>
          </a:xfrm>
          <a:prstGeom prst="roundRect">
            <a:avLst>
              <a:gd name="adj" fmla="val 6000"/>
            </a:avLst>
          </a:prstGeom>
          <a:solidFill>
            <a:srgbClr val="13345F"/>
          </a:solidFill>
          <a:ln w="12700">
            <a:solidFill>
              <a:srgbClr val="426D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25497" y="2807211"/>
            <a:ext cx="946403" cy="2377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结构化识别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2775965" y="3108959"/>
            <a:ext cx="946403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n-US" sz="1200" dirty="0">
                <a:solidFill>
                  <a:srgbClr val="C2D7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行内字段识别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65675" y="2695193"/>
            <a:ext cx="1231392" cy="1193293"/>
          </a:xfrm>
          <a:prstGeom prst="roundRect">
            <a:avLst>
              <a:gd name="adj" fmla="val 6000"/>
            </a:avLst>
          </a:prstGeom>
          <a:solidFill>
            <a:srgbClr val="13345F"/>
          </a:solidFill>
          <a:ln w="12700">
            <a:solidFill>
              <a:srgbClr val="426D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43041" y="2852929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文本单元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4474461" y="3122679"/>
            <a:ext cx="847346" cy="5669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n-US" sz="1200" dirty="0">
                <a:solidFill>
                  <a:srgbClr val="C2D7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可参与归并的最小单元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1118617" y="4375404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2D7F4"/>
                </a:solidFill>
              </a:rPr>
              <a:t>不同来源的文本内容先被拆解为可识别的文本单元，避免正文与表格被割裂处理。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3848" y="1691638"/>
            <a:ext cx="5074920" cy="3776473"/>
          </a:xfrm>
          <a:prstGeom prst="roundRect">
            <a:avLst>
              <a:gd name="adj" fmla="val 1616"/>
            </a:avLst>
          </a:prstGeom>
          <a:solidFill>
            <a:srgbClr val="12315A"/>
          </a:solidFill>
          <a:ln w="12700">
            <a:solidFill>
              <a:srgbClr val="355C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6728" y="1856231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右侧：逐列归并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473952" y="1975104"/>
            <a:ext cx="4709160" cy="3867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714744" y="2377439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173C71"/>
          </a:solidFill>
          <a:ln w="12700">
            <a:solidFill>
              <a:srgbClr val="4E7CB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14744" y="2404871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主键：项目A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955024" y="2377439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173C71"/>
          </a:solidFill>
          <a:ln w="12700">
            <a:solidFill>
              <a:srgbClr val="4E7CB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55024" y="2404871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负责人：张三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714744" y="3108959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173C71"/>
          </a:solidFill>
          <a:ln w="12700">
            <a:solidFill>
              <a:srgbClr val="4E7CB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14744" y="3136391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金额：120万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955024" y="3108959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173C71"/>
          </a:solidFill>
          <a:ln w="12700">
            <a:solidFill>
              <a:srgbClr val="4E7CB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55024" y="3136391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时间：2024Q4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828532" y="3655317"/>
            <a:ext cx="0" cy="491489"/>
          </a:xfrm>
          <a:prstGeom prst="line">
            <a:avLst/>
          </a:prstGeom>
          <a:noFill/>
          <a:ln w="12700">
            <a:solidFill>
              <a:srgbClr val="6E96C7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885176" y="4178807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94904" y="4288535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完整记录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994904" y="4526279"/>
            <a:ext cx="1929384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按主键把零散字段合并为同一行结果</a:t>
            </a:r>
            <a:endParaRPr lang="en-US" sz="1200" dirty="0"/>
          </a:p>
        </p:txBody>
      </p:sp>
      <p:sp>
        <p:nvSpPr>
          <p:cNvPr id="46" name="Shape 10"/>
          <p:cNvSpPr/>
          <p:nvPr/>
        </p:nvSpPr>
        <p:spPr>
          <a:xfrm>
            <a:off x="8104632" y="1156715"/>
            <a:ext cx="1219200" cy="393192"/>
          </a:xfrm>
          <a:prstGeom prst="roundRect">
            <a:avLst>
              <a:gd name="adj" fmla="val 17857"/>
            </a:avLst>
          </a:prstGeom>
          <a:solidFill>
            <a:srgbClr val="173C71"/>
          </a:solidFill>
          <a:ln w="12700">
            <a:solidFill>
              <a:srgbClr val="173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1252726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2F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逐列归并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155448"/>
            <a:ext cx="2011680" cy="73152"/>
          </a:xfrm>
          <a:prstGeom prst="rect">
            <a:avLst/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5780" y="6062472"/>
            <a:ext cx="11064240" cy="0"/>
          </a:xfrm>
          <a:prstGeom prst="line">
            <a:avLst/>
          </a:prstGeom>
          <a:noFill/>
          <a:ln w="12700">
            <a:solidFill>
              <a:srgbClr val="BF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411480"/>
            <a:ext cx="256032" cy="256032"/>
          </a:xfrm>
          <a:prstGeom prst="ellipse">
            <a:avLst/>
          </a:prstGeom>
          <a:solidFill>
            <a:srgbClr val="DCEBFF">
              <a:alpha val="85000"/>
            </a:srgbClr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2256" y="347472"/>
            <a:ext cx="137160" cy="137160"/>
          </a:xfrm>
          <a:prstGeom prst="ellipse">
            <a:avLst/>
          </a:prstGeom>
          <a:solidFill>
            <a:srgbClr val="92F0FF">
              <a:alpha val="90000"/>
            </a:srgbClr>
          </a:solidFill>
          <a:ln w="12700">
            <a:solidFill>
              <a:srgbClr val="92F0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创新六：LLM + 规则校验的混合抽取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94944" y="960120"/>
            <a:ext cx="6217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让大模型负责理解，让规则机制负责兜底、约束与校验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创新成果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" y="6277356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智能理解与稳定控制并行，才能真正进入业务场景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1783080"/>
            <a:ext cx="3291840" cy="3419854"/>
          </a:xfrm>
          <a:prstGeom prst="roundRect">
            <a:avLst>
              <a:gd name="adj" fmla="val 2222"/>
            </a:avLst>
          </a:prstGeom>
          <a:solidFill>
            <a:srgbClr val="EFF5FF"/>
          </a:solidFill>
          <a:ln w="12700">
            <a:solidFill>
              <a:srgbClr val="1F63FF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92124" y="19659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的作用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020824"/>
            <a:ext cx="2926080" cy="3685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05840" y="2688336"/>
            <a:ext cx="100584" cy="100584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2615184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理解开放式表达与字段语义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05840" y="3328416"/>
            <a:ext cx="100584" cy="100584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3255264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在非固定模板中寻找目标信息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05840" y="4023360"/>
            <a:ext cx="100584" cy="100584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3950208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补齐不同说法间的语义差异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05840" y="4754880"/>
            <a:ext cx="100584" cy="100584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" y="4681728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提升跨文档适配能力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26280" y="1673225"/>
            <a:ext cx="3063240" cy="3480435"/>
          </a:xfrm>
          <a:prstGeom prst="roundRect">
            <a:avLst>
              <a:gd name="adj" fmla="val 3636"/>
            </a:avLst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7565" y="188849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混合式核心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16145" y="2590165"/>
            <a:ext cx="2752090" cy="21209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负责灵活理解，规则负责格式约束与专项验证，二者共同提高准确性与可控性。</a:t>
            </a:r>
            <a:endParaRPr 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046720" y="1525905"/>
            <a:ext cx="3291840" cy="3700145"/>
          </a:xfrm>
          <a:prstGeom prst="roundRect">
            <a:avLst>
              <a:gd name="adj" fmla="val 2222"/>
            </a:avLst>
          </a:prstGeom>
          <a:solidFill>
            <a:srgbClr val="F8FBFF"/>
          </a:solidFill>
          <a:ln w="12700">
            <a:solidFill>
              <a:srgbClr val="BFD4F2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0" y="167335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规则校验的作用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29600" y="2020824"/>
            <a:ext cx="2926080" cy="3685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75320" y="2313432"/>
            <a:ext cx="100584" cy="100584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39912" y="224028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对数值、时间等字段做专项验证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75320" y="3008376"/>
            <a:ext cx="100584" cy="100584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39912" y="2935224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置信度机制过滤不可靠结果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275320" y="3593592"/>
            <a:ext cx="100584" cy="100584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39912" y="352044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格式兜底，降低随机性输出风险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275320" y="4224528"/>
            <a:ext cx="100584" cy="100584"/>
          </a:xfrm>
          <a:prstGeom prst="ellipse">
            <a:avLst/>
          </a:prstGeom>
          <a:solidFill>
            <a:srgbClr val="1F63FF"/>
          </a:solidFill>
          <a:ln w="12700">
            <a:solidFill>
              <a:srgbClr val="1F63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39912" y="4151376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提升结果稳定性与可解释性</a:t>
            </a:r>
            <a:endParaRPr lang="en-US" sz="1500" dirty="0"/>
          </a:p>
        </p:txBody>
      </p:sp>
      <p:sp>
        <p:nvSpPr>
          <p:cNvPr id="41" name="圆角矩形 40"/>
          <p:cNvSpPr/>
          <p:nvPr>
            <p:custDataLst>
              <p:tags r:id="rId1"/>
            </p:custDataLst>
          </p:nvPr>
        </p:nvSpPr>
        <p:spPr>
          <a:xfrm>
            <a:off x="-635" y="1420495"/>
            <a:ext cx="12192000" cy="4427220"/>
          </a:xfrm>
          <a:prstGeom prst="roundRect">
            <a:avLst/>
          </a:prstGeom>
          <a:gradFill flip="none" rotWithShape="1">
            <a:gsLst>
              <a:gs pos="84000">
                <a:schemeClr val="accent1">
                  <a:lumMod val="5000"/>
                  <a:lumOff val="95000"/>
                  <a:alpha val="11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E274A"/>
          </a:solidFill>
          <a:ln w="12700">
            <a:solidFill>
              <a:srgbClr val="0E27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8007" y="6099048"/>
            <a:ext cx="11155680" cy="0"/>
          </a:xfrm>
          <a:prstGeom prst="line">
            <a:avLst/>
          </a:prstGeom>
          <a:noFill/>
          <a:ln w="12700">
            <a:solidFill>
              <a:srgbClr val="385B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C4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744200" y="411480"/>
            <a:ext cx="320040" cy="320040"/>
          </a:xfrm>
          <a:prstGeom prst="ellipse">
            <a:avLst/>
          </a:prstGeom>
          <a:solidFill>
            <a:srgbClr val="173C71">
              <a:alpha val="92000"/>
            </a:srgbClr>
          </a:solidFill>
          <a:ln w="12700">
            <a:solidFill>
              <a:srgbClr val="173C7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7392" y="365760"/>
            <a:ext cx="164592" cy="164592"/>
          </a:xfrm>
          <a:prstGeom prst="ellipse">
            <a:avLst/>
          </a:prstGeom>
          <a:solidFill>
            <a:srgbClr val="2FD4FF">
              <a:alpha val="90000"/>
            </a:srgbClr>
          </a:solidFill>
          <a:ln w="12700">
            <a:solidFill>
              <a:srgbClr val="2FD4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创新七：结果可解释与字段溯源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896112"/>
            <a:ext cx="6217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6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不仅给出结果，还要告诉用户“结果从哪里来、为什么可信”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2F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创新成果 / 重点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6291072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C4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不仅给结果，更告诉你结果从哪里来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" y="1481328"/>
            <a:ext cx="4023360" cy="3730752"/>
          </a:xfrm>
          <a:prstGeom prst="roundRect">
            <a:avLst>
              <a:gd name="adj" fmla="val 1818"/>
            </a:avLst>
          </a:prstGeom>
          <a:solidFill>
            <a:srgbClr val="12315A"/>
          </a:solidFill>
          <a:ln w="12700">
            <a:solidFill>
              <a:srgbClr val="355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16459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保存的溯源信息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87552" y="1993392"/>
            <a:ext cx="3657600" cy="3822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51560" y="2295145"/>
            <a:ext cx="100584" cy="100584"/>
          </a:xfrm>
          <a:prstGeom prst="ellipse">
            <a:avLst/>
          </a:prstGeom>
          <a:solidFill>
            <a:srgbClr val="2FD4FF"/>
          </a:solidFill>
          <a:ln w="12700">
            <a:solidFill>
              <a:srgbClr val="2FD4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2221993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来源段落编号与原文证据片段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51560" y="2816353"/>
            <a:ext cx="100584" cy="100584"/>
          </a:xfrm>
          <a:prstGeom prst="ellipse">
            <a:avLst/>
          </a:prstGeom>
          <a:solidFill>
            <a:srgbClr val="2FD4FF"/>
          </a:solidFill>
          <a:ln w="12700">
            <a:solidFill>
              <a:srgbClr val="2FD4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16152" y="2743201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表格 ID、行列坐标、单元格定位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51560" y="3392424"/>
            <a:ext cx="100584" cy="100584"/>
          </a:xfrm>
          <a:prstGeom prst="ellipse">
            <a:avLst/>
          </a:prstGeom>
          <a:solidFill>
            <a:srgbClr val="2FD4FF"/>
          </a:solidFill>
          <a:ln w="12700">
            <a:solidFill>
              <a:srgbClr val="2FD4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6152" y="33192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上下文信息与所属文件标识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1560" y="3995928"/>
            <a:ext cx="100584" cy="100584"/>
          </a:xfrm>
          <a:prstGeom prst="ellipse">
            <a:avLst/>
          </a:prstGeom>
          <a:solidFill>
            <a:srgbClr val="2FD4FF"/>
          </a:solidFill>
          <a:ln w="12700">
            <a:solidFill>
              <a:srgbClr val="2FD4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16152" y="392277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点击字段即可快速回看依据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51560" y="4599432"/>
            <a:ext cx="100584" cy="100584"/>
          </a:xfrm>
          <a:prstGeom prst="ellipse">
            <a:avLst/>
          </a:prstGeom>
          <a:solidFill>
            <a:srgbClr val="2FD4FF"/>
          </a:solidFill>
          <a:ln w="12700">
            <a:solidFill>
              <a:srgbClr val="2FD4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16152" y="4526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帮助用户核验、复查与追责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138928" y="1481328"/>
            <a:ext cx="5577840" cy="4480560"/>
          </a:xfrm>
          <a:prstGeom prst="roundRect">
            <a:avLst>
              <a:gd name="adj" fmla="val 1224"/>
            </a:avLst>
          </a:prstGeom>
          <a:blipFill rotWithShape="1">
            <a:blip r:embed="rId1"/>
            <a:stretch>
              <a:fillRect/>
            </a:stretch>
          </a:blipFill>
          <a:ln w="12700">
            <a:solidFill>
              <a:srgbClr val="4E7CB4"/>
            </a:solidFill>
            <a:prstDash val="solid"/>
          </a:ln>
        </p:spPr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155448"/>
            <a:ext cx="2011680" cy="73152"/>
          </a:xfrm>
          <a:prstGeom prst="rect">
            <a:avLst/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172200"/>
            <a:ext cx="11064240" cy="0"/>
          </a:xfrm>
          <a:prstGeom prst="line">
            <a:avLst/>
          </a:prstGeom>
          <a:noFill/>
          <a:ln w="12700">
            <a:solidFill>
              <a:srgbClr val="BF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411480"/>
            <a:ext cx="256032" cy="256032"/>
          </a:xfrm>
          <a:prstGeom prst="ellipse">
            <a:avLst/>
          </a:prstGeom>
          <a:solidFill>
            <a:srgbClr val="DCEBFF">
              <a:alpha val="85000"/>
            </a:srgbClr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2256" y="347472"/>
            <a:ext cx="137160" cy="137160"/>
          </a:xfrm>
          <a:prstGeom prst="ellipse">
            <a:avLst/>
          </a:prstGeom>
          <a:solidFill>
            <a:srgbClr val="92F0FF">
              <a:alpha val="90000"/>
            </a:srgbClr>
          </a:solidFill>
          <a:ln w="12700">
            <a:solidFill>
              <a:srgbClr val="92F0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创新八：标准字段匹配与规范化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992121"/>
            <a:ext cx="6528816" cy="32003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抽取后的字段名称并不总是统一，因此需要进一步映射到标准字段体系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创新成果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6318504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先把字段“抽出来”，再把字段“对齐到统一标准”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1604645"/>
            <a:ext cx="10579735" cy="1325880"/>
          </a:xfrm>
          <a:prstGeom prst="roundRect">
            <a:avLst>
              <a:gd name="adj" fmla="val 5517"/>
            </a:avLst>
          </a:prstGeom>
          <a:solidFill>
            <a:srgbClr val="EEF5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769361"/>
            <a:ext cx="10195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映射示例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116833"/>
            <a:ext cx="10195560" cy="6675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97280" y="2080257"/>
            <a:ext cx="1618488" cy="484632"/>
          </a:xfrm>
          <a:prstGeom prst="roundRect">
            <a:avLst>
              <a:gd name="adj" fmla="val 23529"/>
            </a:avLst>
          </a:prstGeom>
          <a:solidFill>
            <a:srgbClr val="F8FB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97864" y="2180841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负责人 / 联系人 / 牵头人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2706624" y="2272281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63FF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953512" y="2080257"/>
            <a:ext cx="1252728" cy="484632"/>
          </a:xfrm>
          <a:prstGeom prst="roundRect">
            <a:avLst>
              <a:gd name="adj" fmla="val 23529"/>
            </a:avLst>
          </a:prstGeom>
          <a:solidFill>
            <a:srgbClr val="DFF2FF"/>
          </a:solidFill>
          <a:ln w="12700">
            <a:solidFill>
              <a:srgbClr val="1F63FF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9" name="Text 17"/>
          <p:cNvSpPr/>
          <p:nvPr/>
        </p:nvSpPr>
        <p:spPr>
          <a:xfrm>
            <a:off x="3035808" y="2162553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项目负责人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4389120" y="2080257"/>
            <a:ext cx="1435608" cy="484632"/>
          </a:xfrm>
          <a:prstGeom prst="roundRect">
            <a:avLst>
              <a:gd name="adj" fmla="val 23529"/>
            </a:avLst>
          </a:prstGeom>
          <a:solidFill>
            <a:srgbClr val="F8FB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5696" y="2199129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金额 / 经费 / 项目预算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5833872" y="2290569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63FF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190488" y="2080257"/>
            <a:ext cx="1216152" cy="484632"/>
          </a:xfrm>
          <a:prstGeom prst="roundRect">
            <a:avLst>
              <a:gd name="adj" fmla="val 23529"/>
            </a:avLst>
          </a:prstGeom>
          <a:solidFill>
            <a:srgbClr val="DFF2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27064" y="2162553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项目金额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7653528" y="2080257"/>
            <a:ext cx="1417320" cy="484632"/>
          </a:xfrm>
          <a:prstGeom prst="roundRect">
            <a:avLst>
              <a:gd name="adj" fmla="val 23529"/>
            </a:avLst>
          </a:prstGeom>
          <a:solidFill>
            <a:srgbClr val="F8FBFF"/>
          </a:solidFill>
          <a:ln w="12700">
            <a:solidFill>
              <a:srgbClr val="BFD4F2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6" name="Text 24"/>
          <p:cNvSpPr/>
          <p:nvPr/>
        </p:nvSpPr>
        <p:spPr>
          <a:xfrm>
            <a:off x="7653528" y="2176269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统计期 / 时间 / 所属季度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9124188" y="2267709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63FF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82328" y="2080257"/>
            <a:ext cx="1216152" cy="484632"/>
          </a:xfrm>
          <a:prstGeom prst="roundRect">
            <a:avLst>
              <a:gd name="adj" fmla="val 23529"/>
            </a:avLst>
          </a:prstGeom>
          <a:solidFill>
            <a:srgbClr val="DFF2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18904" y="2180841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统计时间</a:t>
            </a:r>
            <a:endParaRPr lang="en-US" sz="1240" dirty="0"/>
          </a:p>
        </p:txBody>
      </p:sp>
      <p:sp>
        <p:nvSpPr>
          <p:cNvPr id="30" name="Shape 28"/>
          <p:cNvSpPr/>
          <p:nvPr/>
        </p:nvSpPr>
        <p:spPr>
          <a:xfrm>
            <a:off x="822960" y="3383280"/>
            <a:ext cx="3337560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05840" y="3547872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技术支撑一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5840" y="3895344"/>
            <a:ext cx="2971800" cy="18288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别名词典</a:t>
            </a:r>
            <a:endParaRPr lang="en-US" sz="132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通过维护领域别名、同义表达和常见缩写，提升字段对齐的先验能力。</a:t>
            </a:r>
            <a:endParaRPr lang="en-US" sz="20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443984" y="3383280"/>
            <a:ext cx="3337560" cy="2487168"/>
          </a:xfrm>
          <a:prstGeom prst="roundRect">
            <a:avLst>
              <a:gd name="adj" fmla="val 2941"/>
            </a:avLst>
          </a:prstGeom>
          <a:solidFill>
            <a:srgbClr val="F7FAFF"/>
          </a:solidFill>
          <a:ln w="12700">
            <a:solidFill>
              <a:srgbClr val="BFD4F2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626864" y="3547872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技术支撑二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626864" y="3895344"/>
            <a:ext cx="2971800" cy="18288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语义匹配</a:t>
            </a:r>
            <a:endParaRPr lang="en-US" sz="160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结合语义相似度判断抽取字段与标准字段之间的对应关系，减少人工手工映射。</a:t>
            </a:r>
            <a:endParaRPr lang="en-US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065008" y="3383280"/>
            <a:ext cx="3337560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247888" y="3547872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技术支撑三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247888" y="3895344"/>
            <a:ext cx="2971800" cy="18288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规范化输出</a:t>
            </a:r>
            <a:endParaRPr lang="en-US" sz="160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为后续模板填报、结果对接、系统集成和数据沉淀提供统一字段基础</a:t>
            </a:r>
            <a:r>
              <a:rPr lang="en-US" sz="12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200" dirty="0">
              <a:solidFill>
                <a:srgbClr val="5D70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155448"/>
            <a:ext cx="2011680" cy="73152"/>
          </a:xfrm>
          <a:prstGeom prst="rect">
            <a:avLst/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163056"/>
            <a:ext cx="11064240" cy="0"/>
          </a:xfrm>
          <a:prstGeom prst="line">
            <a:avLst/>
          </a:prstGeom>
          <a:noFill/>
          <a:ln w="12700">
            <a:solidFill>
              <a:srgbClr val="BFD4F2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411480"/>
            <a:ext cx="256032" cy="256032"/>
          </a:xfrm>
          <a:prstGeom prst="ellipse">
            <a:avLst/>
          </a:prstGeom>
          <a:solidFill>
            <a:srgbClr val="DCEBFF">
              <a:alpha val="85000"/>
            </a:srgbClr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2256" y="347472"/>
            <a:ext cx="137160" cy="137160"/>
          </a:xfrm>
          <a:prstGeom prst="ellipse">
            <a:avLst/>
          </a:prstGeom>
          <a:solidFill>
            <a:srgbClr val="92F0FF">
              <a:alpha val="90000"/>
            </a:srgbClr>
          </a:solidFill>
          <a:ln w="12700">
            <a:solidFill>
              <a:srgbClr val="92F0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结果展示与系统效果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886968"/>
            <a:ext cx="6217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系统可以把上传材料转化为可预览、可溯源、可下载的结构化结果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/ 结果与价值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6382512"/>
            <a:ext cx="5943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上传文件 → 自动抽取 → 结果表生成 → 字段溯源 → 下载结果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1325880"/>
            <a:ext cx="10561320" cy="731520"/>
          </a:xfrm>
          <a:prstGeom prst="roundRect">
            <a:avLst>
              <a:gd name="adj" fmla="val 10000"/>
            </a:avLst>
          </a:prstGeom>
          <a:solidFill>
            <a:srgbClr val="EEF5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545336"/>
            <a:ext cx="10195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展示路径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68680" y="2331720"/>
            <a:ext cx="6400800" cy="3429000"/>
          </a:xfrm>
          <a:prstGeom prst="roundRect">
            <a:avLst>
              <a:gd name="adj" fmla="val 1600"/>
            </a:avLst>
          </a:prstGeom>
          <a:blipFill rotWithShape="1">
            <a:blip r:embed="rId1"/>
            <a:stretch>
              <a:fillRect/>
            </a:stretch>
          </a:blipFill>
          <a:ln w="12700">
            <a:solidFill>
              <a:srgbClr val="1F63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2360" y="2331720"/>
            <a:ext cx="3840480" cy="3429000"/>
          </a:xfrm>
          <a:prstGeom prst="roundRect">
            <a:avLst>
              <a:gd name="adj" fmla="val 1600"/>
            </a:avLst>
          </a:prstGeom>
          <a:blipFill rotWithShape="1">
            <a:blip r:embed="rId2"/>
            <a:stretch>
              <a:fillRect/>
            </a:stretch>
          </a:blipFill>
          <a:ln w="12700">
            <a:solidFill>
              <a:srgbClr val="1F63FF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155448"/>
            <a:ext cx="2011680" cy="73152"/>
          </a:xfrm>
          <a:prstGeom prst="rect">
            <a:avLst/>
          </a:prstGeom>
          <a:solidFill>
            <a:srgbClr val="2FD4FF"/>
          </a:solidFill>
          <a:ln w="12700">
            <a:solidFill>
              <a:srgbClr val="2F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3727" y="6382512"/>
            <a:ext cx="11064240" cy="0"/>
          </a:xfrm>
          <a:prstGeom prst="line">
            <a:avLst/>
          </a:prstGeom>
          <a:noFill/>
          <a:ln w="12700">
            <a:solidFill>
              <a:srgbClr val="BF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6419088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81360" y="411480"/>
            <a:ext cx="256032" cy="256032"/>
          </a:xfrm>
          <a:prstGeom prst="ellipse">
            <a:avLst/>
          </a:prstGeom>
          <a:solidFill>
            <a:srgbClr val="DCEBFF">
              <a:alpha val="85000"/>
            </a:srgbClr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92256" y="347472"/>
            <a:ext cx="137160" cy="137160"/>
          </a:xfrm>
          <a:prstGeom prst="ellipse">
            <a:avLst/>
          </a:prstGeom>
          <a:solidFill>
            <a:srgbClr val="92F0FF">
              <a:alpha val="90000"/>
            </a:srgbClr>
          </a:solidFill>
          <a:ln w="12700">
            <a:solidFill>
              <a:srgbClr val="92F0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84048"/>
            <a:ext cx="6949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923544"/>
            <a:ext cx="69494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项目已形成“定义目标—自动理解—结果成表—字段回查”的完整系统闭环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46920" y="393192"/>
            <a:ext cx="1965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/ 总结与展望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1444752"/>
            <a:ext cx="20116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1609344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" y="1956816"/>
            <a:ext cx="1645920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减少重复查找与手工填写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53512" y="1444752"/>
            <a:ext cx="20116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1609344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多源兼容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36392" y="1929384"/>
            <a:ext cx="1828800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支持多种异构文档输入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5193792" y="1444752"/>
            <a:ext cx="2011680" cy="1572768"/>
          </a:xfrm>
          <a:prstGeom prst="roundRect">
            <a:avLst>
              <a:gd name="adj" fmla="val 4651"/>
            </a:avLst>
          </a:prstGeom>
          <a:solidFill>
            <a:srgbClr val="EEF5FF"/>
          </a:solidFill>
          <a:ln w="12700">
            <a:solidFill>
              <a:srgbClr val="1F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1609344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动态抽取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76672" y="1956816"/>
            <a:ext cx="1645920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支持自定义表头与自动成表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34072" y="1444752"/>
            <a:ext cx="20116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16952" y="1609344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可信结果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16952" y="1956816"/>
            <a:ext cx="1645920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支持字段级溯源与证据回查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74352" y="1444752"/>
            <a:ext cx="20116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BFD4F2"/>
            </a:solidFill>
            <a:prstDash val="solid"/>
          </a:ln>
        </p:spPr>
      </p:sp>
      <p:sp>
        <p:nvSpPr>
          <p:cNvPr id="11" name="圆角矩形 10"/>
          <p:cNvSpPr/>
          <p:nvPr/>
        </p:nvSpPr>
        <p:spPr>
          <a:xfrm>
            <a:off x="4782185" y="3112135"/>
            <a:ext cx="2240280" cy="4114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未来</a:t>
            </a:r>
            <a:r>
              <a:rPr lang="zh-CN" altLang="en-US"/>
              <a:t>展望</a:t>
            </a:r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857232" y="1609344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可扩展性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57232" y="1956816"/>
            <a:ext cx="1645920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适合继续接入更多场景与平台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-461645" y="3429000"/>
            <a:ext cx="13916025" cy="960120"/>
          </a:xfrm>
          <a:prstGeom prst="roundRect">
            <a:avLst>
              <a:gd name="adj" fmla="val 7619"/>
            </a:avLst>
          </a:prstGeom>
          <a:solidFill>
            <a:srgbClr val="1F63FF"/>
          </a:solidFill>
          <a:ln w="12700">
            <a:solidFill>
              <a:srgbClr val="1F63FF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9" name="Text 27"/>
          <p:cNvSpPr/>
          <p:nvPr/>
        </p:nvSpPr>
        <p:spPr>
          <a:xfrm>
            <a:off x="1143000" y="3618230"/>
            <a:ext cx="9875520" cy="594995"/>
          </a:xfrm>
          <a:prstGeom prst="rect">
            <a:avLst/>
          </a:prstGeom>
          <a:noFill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支持更多文件格式；持续提升抽取精度；扩展到更多行业应用场景；进一步接入更完整的数据管理与业务协同平台。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同时使提取的结果可以以图表的形式表现以及可以进行自动分析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236976" y="5010912"/>
            <a:ext cx="5669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30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感谢各位老师聆听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4114800" y="5650992"/>
            <a:ext cx="3931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D70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敬请批评指正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646920" y="5669280"/>
            <a:ext cx="12801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F6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DocFusion-AI</a:t>
            </a:r>
            <a:endParaRPr lang="en-US" sz="1250" dirty="0"/>
          </a:p>
        </p:txBody>
      </p:sp>
      <p:sp>
        <p:nvSpPr>
          <p:cNvPr id="33" name="椭圆 32"/>
          <p:cNvSpPr/>
          <p:nvPr/>
        </p:nvSpPr>
        <p:spPr>
          <a:xfrm>
            <a:off x="2742565" y="1252220"/>
            <a:ext cx="256540" cy="194437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>
            <p:custDataLst>
              <p:tags r:id="rId1"/>
            </p:custDataLst>
          </p:nvPr>
        </p:nvSpPr>
        <p:spPr>
          <a:xfrm>
            <a:off x="4982845" y="1284605"/>
            <a:ext cx="256540" cy="194437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>
            <p:custDataLst>
              <p:tags r:id="rId2"/>
            </p:custDataLst>
          </p:nvPr>
        </p:nvSpPr>
        <p:spPr>
          <a:xfrm>
            <a:off x="7223125" y="1297940"/>
            <a:ext cx="256540" cy="194437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椭圆 35"/>
          <p:cNvSpPr/>
          <p:nvPr>
            <p:custDataLst>
              <p:tags r:id="rId3"/>
            </p:custDataLst>
          </p:nvPr>
        </p:nvSpPr>
        <p:spPr>
          <a:xfrm>
            <a:off x="9471660" y="1316355"/>
            <a:ext cx="256540" cy="194437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椭圆 36"/>
          <p:cNvSpPr/>
          <p:nvPr>
            <p:custDataLst>
              <p:tags r:id="rId4"/>
            </p:custDataLst>
          </p:nvPr>
        </p:nvSpPr>
        <p:spPr>
          <a:xfrm>
            <a:off x="621665" y="1297940"/>
            <a:ext cx="256540" cy="194437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椭圆 37"/>
          <p:cNvSpPr/>
          <p:nvPr>
            <p:custDataLst>
              <p:tags r:id="rId5"/>
            </p:custDataLst>
          </p:nvPr>
        </p:nvSpPr>
        <p:spPr>
          <a:xfrm>
            <a:off x="11587480" y="1284605"/>
            <a:ext cx="256540" cy="194437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DIAGRAM_VIRTUALLY_FRAME" val="{&quot;height&quot;:284.40000000000003,&quot;left&quot;:56.160000000000004,&quot;top&quot;:128.16,&quot;width&quot;:847.4399999999999}"/>
</p:tagLst>
</file>

<file path=ppt/tags/tag5.xml><?xml version="1.0" encoding="utf-8"?>
<p:tagLst xmlns:p="http://schemas.openxmlformats.org/presentationml/2006/main">
  <p:tag name="KSO_WM_DIAGRAM_VIRTUALLY_FRAME" val="{&quot;height&quot;:284.40000000000003,&quot;left&quot;:56.160000000000004,&quot;top&quot;:128.16,&quot;width&quot;:847.4399999999999}"/>
</p:tagLst>
</file>

<file path=ppt/tags/tag6.xml><?xml version="1.0" encoding="utf-8"?>
<p:tagLst xmlns:p="http://schemas.openxmlformats.org/presentationml/2006/main">
  <p:tag name="KSO_WM_DIAGRAM_VIRTUALLY_FRAME" val="{&quot;height&quot;:284.40000000000003,&quot;left&quot;:56.160000000000004,&quot;top&quot;:128.16,&quot;width&quot;:847.4399999999999}"/>
</p:tagLst>
</file>

<file path=ppt/tags/tag7.xml><?xml version="1.0" encoding="utf-8"?>
<p:tagLst xmlns:p="http://schemas.openxmlformats.org/presentationml/2006/main">
  <p:tag name="KSO_WM_DIAGRAM_VIRTUALLY_FRAME" val="{&quot;height&quot;:284.40000000000003,&quot;left&quot;:56.160000000000004,&quot;top&quot;:128.16,&quot;width&quot;:847.4399999999999}"/>
</p:tagLst>
</file>

<file path=ppt/tags/tag8.xml><?xml version="1.0" encoding="utf-8"?>
<p:tagLst xmlns:p="http://schemas.openxmlformats.org/presentationml/2006/main">
  <p:tag name="KSO_WM_DIAGRAM_VIRTUALLY_FRAME" val="{&quot;height&quot;:284.40000000000003,&quot;left&quot;:56.160000000000004,&quot;top&quot;:128.16,&quot;width&quot;:847.4399999999999}"/>
</p:tagLst>
</file>

<file path=ppt/tags/tag9.xml><?xml version="1.0" encoding="utf-8"?>
<p:tagLst xmlns:p="http://schemas.openxmlformats.org/presentationml/2006/main">
  <p:tag name="KSO_WM_DIAGRAM_VIRTUALLY_FRAME" val="{&quot;height&quot;:284.40000000000003,&quot;left&quot;:56.160000000000004,&quot;top&quot;:128.16,&quot;width&quot;:847.4399999999999}"/>
</p:tagLst>
</file>

<file path=ppt/tags/tag10.xml><?xml version="1.0" encoding="utf-8"?>
<p:tagLst xmlns:p="http://schemas.openxmlformats.org/presentationml/2006/main">
  <p:tag name="KSO_WM_DIAGRAM_VIRTUALLY_FRAME" val="{&quot;height&quot;:284.40000000000003,&quot;left&quot;:56.160000000000004,&quot;top&quot;:128.16,&quot;width&quot;:847.4399999999999}"/>
</p:tagLst>
</file>

<file path=ppt/tags/tag11.xml><?xml version="1.0" encoding="utf-8"?>
<p:tagLst xmlns:p="http://schemas.openxmlformats.org/presentationml/2006/main">
  <p:tag name="KSO_WM_DIAGRAM_VIRTUALLY_FRAME" val="{&quot;height&quot;:284.40000000000003,&quot;left&quot;:56.160000000000004,&quot;top&quot;:128.16,&quot;width&quot;:847.4399999999999}"/>
</p:tagLst>
</file>

<file path=ppt/tags/tag12.xml><?xml version="1.0" encoding="utf-8"?>
<p:tagLst xmlns:p="http://schemas.openxmlformats.org/presentationml/2006/main">
  <p:tag name="KSO_WM_DIAGRAM_VIRTUALLY_FRAME" val="{&quot;height&quot;:284.40000000000003,&quot;left&quot;:56.160000000000004,&quot;top&quot;:128.16,&quot;width&quot;:847.4399999999999}"/>
</p:tagLst>
</file>

<file path=ppt/tags/tag13.xml><?xml version="1.0" encoding="utf-8"?>
<p:tagLst xmlns:p="http://schemas.openxmlformats.org/presentationml/2006/main">
  <p:tag name="KSO_WM_DIAGRAM_VIRTUALLY_FRAME" val="{&quot;height&quot;:284.40000000000003,&quot;left&quot;:56.160000000000004,&quot;top&quot;:128.16,&quot;width&quot;:847.4399999999999}"/>
</p:tagLst>
</file>

<file path=ppt/tags/tag14.xml><?xml version="1.0" encoding="utf-8"?>
<p:tagLst xmlns:p="http://schemas.openxmlformats.org/presentationml/2006/main">
  <p:tag name="KSO_WM_DIAGRAM_VIRTUALLY_FRAME" val="{&quot;height&quot;:284.40000000000003,&quot;left&quot;:56.160000000000004,&quot;top&quot;:128.16,&quot;width&quot;:847.4399999999999}"/>
</p:tagLst>
</file>

<file path=ppt/tags/tag15.xml><?xml version="1.0" encoding="utf-8"?>
<p:tagLst xmlns:p="http://schemas.openxmlformats.org/presentationml/2006/main">
  <p:tag name="KSO_WM_DIAGRAM_VIRTUALLY_FRAME" val="{&quot;height&quot;:284.40000000000003,&quot;left&quot;:56.160000000000004,&quot;top&quot;:128.16,&quot;width&quot;:847.4399999999999}"/>
</p:tagLst>
</file>

<file path=ppt/tags/tag16.xml><?xml version="1.0" encoding="utf-8"?>
<p:tagLst xmlns:p="http://schemas.openxmlformats.org/presentationml/2006/main">
  <p:tag name="KSO_WM_DIAGRAM_VIRTUALLY_FRAME" val="{&quot;height&quot;:284.40000000000003,&quot;left&quot;:56.160000000000004,&quot;top&quot;:128.16,&quot;width&quot;:847.4399999999999}"/>
</p:tagLst>
</file>

<file path=ppt/tags/tag17.xml><?xml version="1.0" encoding="utf-8"?>
<p:tagLst xmlns:p="http://schemas.openxmlformats.org/presentationml/2006/main">
  <p:tag name="KSO_WM_DIAGRAM_VIRTUALLY_FRAME" val="{&quot;height&quot;:284.40000000000003,&quot;left&quot;:56.160000000000004,&quot;top&quot;:128.16,&quot;width&quot;:847.4399999999999}"/>
</p:tagLst>
</file>

<file path=ppt/tags/tag18.xml><?xml version="1.0" encoding="utf-8"?>
<p:tagLst xmlns:p="http://schemas.openxmlformats.org/presentationml/2006/main">
  <p:tag name="KSO_WM_DIAGRAM_VIRTUALLY_FRAME" val="{&quot;height&quot;:284.40000000000003,&quot;left&quot;:56.160000000000004,&quot;top&quot;:128.16,&quot;width&quot;:847.4399999999999}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6370</Words>
  <Application>WPS 文字</Application>
  <PresentationFormat>宽屏</PresentationFormat>
  <Paragraphs>967</Paragraphs>
  <Slides>25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汉仪旗黑</vt:lpstr>
      <vt:lpstr>微软雅黑</vt:lpstr>
      <vt:lpstr>Consolas</vt:lpstr>
      <vt:lpstr>Consolas</vt:lpstr>
      <vt:lpstr>Consolas</vt:lpstr>
      <vt:lpstr>微软雅黑</vt:lpstr>
      <vt:lpstr>宋体</vt:lpstr>
      <vt:lpstr>Arial Unicode MS</vt:lpstr>
      <vt:lpstr>等线</vt:lpstr>
      <vt:lpstr>汉仪中等线KW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DocFusion-AI 项目答辩PPT</dc:title>
  <dc:creator>OpenAI</dc:creator>
  <dc:subject>DocFusion-AI 项目答辩</dc:subject>
  <cp:lastModifiedBy>Mr.~~</cp:lastModifiedBy>
  <cp:revision>39</cp:revision>
  <dcterms:created xsi:type="dcterms:W3CDTF">2026-04-20T10:38:51Z</dcterms:created>
  <dcterms:modified xsi:type="dcterms:W3CDTF">2026-04-20T10:38:51Z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841B9EBCEFA249DA80120D679EC0B6D0_12</vt:lpwstr>
  </property>
  <property fmtid="{D5CDD505-2E9C-101B-9397-08002B2CF9AE}" pid="3" name="KSOProductBuildVer">
    <vt:lpwstr>2052-6.11.0.8885</vt:lpwstr>
  </property>
</Properties>
</file>